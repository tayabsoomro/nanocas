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alk" id="{324ccef2-cde4-5a5b-44a6-1f7f3ecad62c}">
          <p14:sldIdLst>
            <p14:sldId id="256"/>
            <p14:sldId id="257"/>
            <p14:sldId id="258"/>
            <p14:sldId id="259"/>
            <p14:sldId id="260"/>
            <p14:sldId id="261"/>
            <p14:sldId id="262"/>
            <p14:sldId id="263"/>
            <p14:sldId id="264"/>
            <p14:sldId id="265"/>
            <p14:sldId id="266"/>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lead bioinformatics at the Brandon Research and Development Centre. I want to tell you about a small piece of software, but I want to start with the problem it came from, because the problem is the interesting part.
Pause. Let the title 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composite of things that have happened to us and to colleagues. A run starts late on a Friday. Nanopore gives you reads continuously, so by late evening the evidence for the organism you were worried about is sitting in the FASTQ files. And then nothing happens until Monday, because the only way to find out was to look.
The technology delivered real time. The workflow threw it away.
Slow down here. This is the whole talk in one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reminder of why we use this platform for diagnostics at all. With short reads, the answer comes when the run finishes. With nanopore, reads land on disk every few minutes, so for a strongly positive sample the answer can exist within the first hour.
The catch is that someone has to be watching to benefit from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looked at how real-time nanopore data is actually used in a diagnostic setting, the advantage leaked away in three places.
First, a plot is not a decision. Second, the sequencer itself can be the thing that fails, and it fails quietly. Third, the test you compare against, usually qPCR, is kept somewhere else entirely.
Take one card at a time. No need to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fair to the field. These are good tools and we use several of them. MinKNOW will align during a run. minoTour, MARTi and Nanometa Live classify reads as they arrive and show you beautiful live reports.
What none of them do is let a lab say, in advance, what a positive result is, and then tell a person when it happens. And none of them watch the sequencer for you, or keep the qPCR result alongside.
So the gap is not classification. The gap is what happens after the plot.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was the design decision. Do not compete with minimap2 or Kraken. Sit on top of whichever one the lab already trusts, and own the part nobody owned: the rule, the alert, the record.
Pause here before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The sequencer writes files exactly as it does today, nothing changes on the instrument side. nanoCAS watches that folder, classifies each batch with whatever tool you chose, evaluates the rules you wrote down before the run, and when one fires it tells a person.
The rules are the important bit. Depth, breadth, read count, read fraction, on an organism or on a single gene from an annotation. And a second set of rules about the instrument itself.
It runs on the same laptop as MinKNOW. Nothing goes to a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coverage view on a simulated run. Three targets, a contaminant appears part way through, and the moment its depth and breadth cross the thresholds we set, the row turns red and the alert goes out. The dashed line on the chart is the threshold.
Everything you see here was produced without a sequencer. I will come back to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that came out of painful experience. The same sequencing summary that you look at after a run with NanoPlot is read live, and seven rules watch it.
This simulated flow cell is dying: median quality has dropped to six, two percent of recent reads pass, thirty-nine channels left out of five hundred and twelve. On a real run you would get a text message when that started, not a surprise in the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gap. For every target you can enter the result of the confirmatory test, in practice a qPCR Ct. nanoCAS then does the comparison that every validation paper does by hand: did sequencing agree, how long did it take, and how does read yield track Ct. Across runs it reports sensitivity, specificity and kappa.
The idea is that every routine run becomes a row in your validation dataset instead of a line in a spreadsheet.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case study is the plant one, and the one closest to this audience. Xylella is a quarantine organism, unevenly distributed in the plant and present at low titre. The reference method is qPCR, so every sample has a Ct and an absolute quantity.
We sequence the same extracts directly, with nanoCAS watching and the same rules for every sample, and ask a simple question: which of depth, breadth, read count or read fraction tracks the qPCR quantity, and at what Ct does the alert stop arriving in time.
The runs are done, the analysis is being finished for the paper. If you have your own Ct series, this is exactly the kind of dataset we would like to compare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case study is the One Health side. Brucella abortus, a notifiable zoonosis, spiked into bovine DNA at decreasing levels. The background is the same for every level, so the only thing changing is how rare the target is.
Each run starts with thirty minutes of ordinary sequencing, then adaptive sampling is switched on in MinKNOW so that reads that are not Brucella are ejected from the pore. nanoCAS watches the whole three days. The questions are how far down the series it can still raise an alert, how much sooner it arrives with enrichment, and what the run-health rules caught over a three-day run, because flow cells do not last three days gracefully.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promised to come back to the simulator. Everything in this talk was shown on simulated runs because we wanted anyone to be able to see the whole system without a MinION and without their own data.
The simulator writes files exactly the way MinKNOW does, with scripted failure modes. So you can scan this code, run it on a laptop over coffee, and see a flow cell die on purpose.
It is open source. If your lab has a classifier you prefer, it plugs in with a short Python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UK–Canada symposium, so let me end with what we would actually like to do with the people in this room.
First, validation on your sample types, beside your qPCR. Second, thresholds. What should count as positive for a regulated pathogen is a question for diagnosticians and regulators, not for a software developer, and the tool makes it a concrete number you can argue about. Third, plug in the classifiers and databases each side trusts and compare them on identical runs. Fourth, pool the concordance data. Across two countries that becomes something a regulator can actually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Sam built much of the application with me, Tim provided the samples and the laboratory work, and Matthew has been the scientific lead on nanopore work with me since the first MinION in his lab.
I am happy to take questions now or in the discussion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pic>
        <p:nvPicPr>
          <p:cNvPr id="2" name="Image 0" descr="/tmp/claude-0/-home-user-nanoCAS/2df442f6-a263-52d2-9b94-5a00d02710a2/scratchpad/deck/assets/banner_title.png">    </p:cNvPr>
          <p:cNvPicPr>
            <a:picLocks noChangeAspect="1"/>
          </p:cNvPicPr>
          <p:nvPr/>
        </p:nvPicPr>
        <p:blipFill>
          <a:blip r:embed="rId1"/>
          <a:stretch>
            <a:fillRect/>
          </a:stretch>
        </p:blipFill>
        <p:spPr>
          <a:xfrm>
            <a:off x="0" y="0"/>
            <a:ext cx="12191695" cy="2276856"/>
          </a:xfrm>
          <a:prstGeom prst="rect">
            <a:avLst/>
          </a:prstGeom>
        </p:spPr>
      </p:pic>
      <p:pic>
        <p:nvPicPr>
          <p:cNvPr id="3" name="Image 1" descr="/tmp/claude-0/-home-user-nanoCAS/2df442f6-a263-52d2-9b94-5a00d02710a2/scratchpad/deck/assets/footer.png">    </p:cNvPr>
          <p:cNvPicPr>
            <a:picLocks noChangeAspect="1"/>
          </p:cNvPicPr>
          <p:nvPr/>
        </p:nvPicPr>
        <p:blipFill>
          <a:blip r:embed="rId2"/>
          <a:stretch>
            <a:fillRect/>
          </a:stretch>
        </p:blipFill>
        <p:spPr>
          <a:xfrm>
            <a:off x="0" y="6281928"/>
            <a:ext cx="12191695" cy="576072"/>
          </a:xfrm>
          <a:prstGeom prst="rect">
            <a:avLst/>
          </a:prstGeom>
        </p:spPr>
      </p:pic>
      <p:sp>
        <p:nvSpPr>
          <p:cNvPr id="4" name="Text 0"/>
          <p:cNvSpPr/>
          <p:nvPr>
            <p:ph idx="102" type="title" hasCustomPrompt="1"/>
          </p:nvPr>
        </p:nvSpPr>
        <p:spPr>
          <a:xfrm>
            <a:off x="1097280" y="2606040"/>
            <a:ext cx="9994392" cy="1005840"/>
          </a:xfrm>
          <a:prstGeom prst="rect">
            <a:avLst/>
          </a:prstGeom>
          <a:noFill/>
          <a:ln/>
        </p:spPr>
        <p:txBody>
          <a:bodyPr wrap="square" rtlCol="0"/>
          <a:lstStyle>
            <a:lvl1pPr algn="ctr" indent="0" marL="0">
              <a:buNone/>
              <a:defRPr lang="en-US" sz="4000" b="1" dirty="0">
                <a:solidFill>
                  <a:schemeClr val="tx1"/>
                </a:solidFill>
              </a:defRPr>
            </a:lvl1pPr>
          </a:lstStyle>
          <a:p>
            <a:pPr algn="ctr" indent="0" marL="0">
              <a:buNone/>
            </a:pPr>
            <a:endParaRPr lang="en-US" sz="4000" dirty="0"/>
          </a:p>
        </p:txBody>
      </p:sp>
      <p:sp>
        <p:nvSpPr>
          <p:cNvPr id="5" name="Text 0"/>
          <p:cNvSpPr/>
          <p:nvPr>
            <p:ph idx="103" type="body" hasCustomPrompt="1"/>
          </p:nvPr>
        </p:nvSpPr>
        <p:spPr>
          <a:xfrm>
            <a:off x="1371600" y="3611880"/>
            <a:ext cx="9445752" cy="914400"/>
          </a:xfrm>
          <a:prstGeom prst="rect">
            <a:avLst/>
          </a:prstGeom>
          <a:noFill/>
          <a:ln/>
        </p:spPr>
        <p:txBody>
          <a:bodyPr wrap="square" rtlCol="0"/>
          <a:lstStyle>
            <a:lvl1pPr algn="ctr" indent="0" marL="0">
              <a:buNone/>
              <a:defRPr lang="en-US" sz="2200" dirty="0">
                <a:solidFill>
                  <a:schemeClr val="tx1"/>
                </a:solidFill>
              </a:defRPr>
            </a:lvl1pPr>
          </a:lstStyle>
          <a:p>
            <a:pPr algn="ct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tmp/claude-0/-home-user-nanoCAS/2df442f6-a263-52d2-9b94-5a00d02710a2/scratchpad/deck/assets/banner_slim.png">    </p:cNvPr>
          <p:cNvPicPr>
            <a:picLocks noChangeAspect="1"/>
          </p:cNvPicPr>
          <p:nvPr/>
        </p:nvPicPr>
        <p:blipFill>
          <a:blip r:embed="rId1"/>
          <a:stretch>
            <a:fillRect/>
          </a:stretch>
        </p:blipFill>
        <p:spPr>
          <a:xfrm>
            <a:off x="0" y="0"/>
            <a:ext cx="12191695" cy="589788"/>
          </a:xfrm>
          <a:prstGeom prst="rect">
            <a:avLst/>
          </a:prstGeom>
        </p:spPr>
      </p:pic>
      <p:pic>
        <p:nvPicPr>
          <p:cNvPr id="3" name="Image 1" descr="/tmp/claude-0/-home-user-nanoCAS/2df442f6-a263-52d2-9b94-5a00d02710a2/scratchpad/deck/assets/footer.png">    </p:cNvPr>
          <p:cNvPicPr>
            <a:picLocks noChangeAspect="1"/>
          </p:cNvPicPr>
          <p:nvPr/>
        </p:nvPicPr>
        <p:blipFill>
          <a:blip r:embed="rId2"/>
          <a:stretch>
            <a:fillRect/>
          </a:stretch>
        </p:blipFill>
        <p:spPr>
          <a:xfrm>
            <a:off x="0" y="6281928"/>
            <a:ext cx="12191695" cy="576072"/>
          </a:xfrm>
          <a:prstGeom prst="rect">
            <a:avLst/>
          </a:prstGeom>
        </p:spPr>
      </p:pic>
      <p:sp>
        <p:nvSpPr>
          <p:cNvPr id="4" name="Text 0"/>
          <p:cNvSpPr/>
          <p:nvPr>
            <p:ph idx="102" type="title" hasCustomPrompt="1"/>
          </p:nvPr>
        </p:nvSpPr>
        <p:spPr>
          <a:xfrm>
            <a:off x="822960" y="777240"/>
            <a:ext cx="10543032" cy="640080"/>
          </a:xfrm>
          <a:prstGeom prst="rect">
            <a:avLst/>
          </a:prstGeom>
          <a:noFill/>
          <a:ln/>
        </p:spPr>
        <p:txBody>
          <a:bodyPr wrap="square" rtlCol="0"/>
          <a:lstStyle>
            <a:lvl1pPr algn="ctr" indent="0" marL="0">
              <a:buNone/>
              <a:defRPr lang="en-US" sz="2800" b="1" dirty="0">
                <a:solidFill>
                  <a:schemeClr val="tx1"/>
                </a:solidFill>
              </a:defRPr>
            </a:lvl1pPr>
          </a:lstStyle>
          <a:p>
            <a:pPr algn="ctr" indent="0" marL="0">
              <a:buNone/>
            </a:pPr>
            <a:endParaRPr lang="en-US" sz="2800" dirty="0"/>
          </a:p>
        </p:txBody>
      </p:sp>
      <p:sp>
        <p:nvSpPr>
          <p:cNvPr id="25" name="Slide Number Placeholder 0"/>
          <p:cNvSpPr>
            <a:spLocks noGrp="1"/>
          </p:cNvSpPr>
          <p:nvPr>
            <p:ph type="sldNum" sz="quarter" idx="4294967295"/>
          </p:nvPr>
        </p:nvSpPr>
        <p:spPr>
          <a:xfrm>
            <a:off x="11247120" y="59618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FFFFFF"/>
        </a:solidFill>
      </p:bgPr>
    </p:bg>
    <p:spTree>
      <p:nvGrpSpPr>
        <p:cNvPr id="1" name=""/>
        <p:cNvGrpSpPr/>
        <p:nvPr/>
      </p:nvGrpSpPr>
      <p:grpSpPr>
        <a:xfrm>
          <a:off x="0" y="0"/>
          <a:ext cx="0" cy="0"/>
          <a:chOff x="0" y="0"/>
          <a:chExt cx="0" cy="0"/>
        </a:xfrm>
      </p:grpSpPr>
      <p:pic>
        <p:nvPicPr>
          <p:cNvPr id="2" name="Image 0" descr="/tmp/claude-0/-home-user-nanoCAS/2df442f6-a263-52d2-9b94-5a00d02710a2/scratchpad/deck/assets/banner_slim.png">    </p:cNvPr>
          <p:cNvPicPr>
            <a:picLocks noChangeAspect="1"/>
          </p:cNvPicPr>
          <p:nvPr/>
        </p:nvPicPr>
        <p:blipFill>
          <a:blip r:embed="rId1"/>
          <a:stretch>
            <a:fillRect/>
          </a:stretch>
        </p:blipFill>
        <p:spPr>
          <a:xfrm>
            <a:off x="0" y="0"/>
            <a:ext cx="12191695" cy="589788"/>
          </a:xfrm>
          <a:prstGeom prst="rect">
            <a:avLst/>
          </a:prstGeom>
        </p:spPr>
      </p:pic>
      <p:pic>
        <p:nvPicPr>
          <p:cNvPr id="3" name="Image 1" descr="/tmp/claude-0/-home-user-nanoCAS/2df442f6-a263-52d2-9b94-5a00d02710a2/scratchpad/deck/assets/footer.png">    </p:cNvPr>
          <p:cNvPicPr>
            <a:picLocks noChangeAspect="1"/>
          </p:cNvPicPr>
          <p:nvPr/>
        </p:nvPicPr>
        <p:blipFill>
          <a:blip r:embed="rId2"/>
          <a:stretch>
            <a:fillRect/>
          </a:stretch>
        </p:blipFill>
        <p:spPr>
          <a:xfrm>
            <a:off x="0" y="6281928"/>
            <a:ext cx="12191695" cy="576072"/>
          </a:xfrm>
          <a:prstGeom prst="rect">
            <a:avLst/>
          </a:prstGeom>
        </p:spPr>
      </p:pic>
      <p:sp>
        <p:nvSpPr>
          <p:cNvPr id="4" name="Text 0"/>
          <p:cNvSpPr/>
          <p:nvPr>
            <p:ph idx="102" type="title" hasCustomPrompt="1"/>
          </p:nvPr>
        </p:nvSpPr>
        <p:spPr>
          <a:xfrm>
            <a:off x="822960" y="2194560"/>
            <a:ext cx="10543032" cy="1463040"/>
          </a:xfrm>
          <a:prstGeom prst="rect">
            <a:avLst/>
          </a:prstGeom>
          <a:noFill/>
          <a:ln/>
        </p:spPr>
        <p:txBody>
          <a:bodyPr wrap="square" rtlCol="0"/>
          <a:lstStyle>
            <a:lvl1pPr algn="ctr" indent="0" marL="0">
              <a:buNone/>
              <a:defRPr lang="en-US" sz="3200" b="1" dirty="0">
                <a:solidFill>
                  <a:schemeClr val="tx1"/>
                </a:solidFill>
              </a:defRPr>
            </a:lvl1pPr>
          </a:lstStyle>
          <a:p>
            <a:pPr algn="ctr" indent="0" marL="0">
              <a:buNone/>
            </a:pPr>
            <a:endParaRPr lang="en-US" sz="3200" dirty="0"/>
          </a:p>
        </p:txBody>
      </p:sp>
      <p:sp>
        <p:nvSpPr>
          <p:cNvPr id="5" name="Text 0"/>
          <p:cNvSpPr/>
          <p:nvPr>
            <p:ph idx="103" type="body" hasCustomPrompt="1"/>
          </p:nvPr>
        </p:nvSpPr>
        <p:spPr>
          <a:xfrm>
            <a:off x="1828800" y="3794760"/>
            <a:ext cx="8531352" cy="822960"/>
          </a:xfrm>
          <a:prstGeom prst="rect">
            <a:avLst/>
          </a:prstGeom>
          <a:noFill/>
          <a:ln/>
        </p:spPr>
        <p:txBody>
          <a:bodyPr wrap="square" rtlCol="0"/>
          <a:lstStyle>
            <a:lvl1pPr algn="ctr" indent="0" marL="0">
              <a:buNone/>
              <a:defRPr lang="en-US" sz="2000" dirty="0">
                <a:solidFill>
                  <a:schemeClr val="tx2"/>
                </a:solidFill>
              </a:defRPr>
            </a:lvl1pPr>
          </a:lstStyle>
          <a:p>
            <a:pPr algn="ctr" indent="0" marL="0">
              <a:buNone/>
            </a:pPr>
            <a:endParaRPr lang="en-US" sz="2000" dirty="0"/>
          </a:p>
        </p:txBody>
      </p:sp>
      <p:sp>
        <p:nvSpPr>
          <p:cNvPr id="25" name="Slide Number Placeholder 0"/>
          <p:cNvSpPr>
            <a:spLocks noGrp="1"/>
          </p:cNvSpPr>
          <p:nvPr>
            <p:ph type="sldNum" sz="quarter" idx="4294967295"/>
          </p:nvPr>
        </p:nvSpPr>
        <p:spPr>
          <a:xfrm>
            <a:off x="11247120" y="59618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59618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2" type="title" hasCustomPrompt="1"/>
          </p:nvPr>
        </p:nvSpPr>
        <p:spPr>
          <a:xfrm>
            <a:off x="1097280" y="2606040"/>
            <a:ext cx="9994392" cy="1005840"/>
          </a:xfrm>
          <a:prstGeom prst="rect">
            <a:avLst/>
          </a:prstGeom>
          <a:noFill/>
          <a:ln/>
        </p:spPr>
        <p:txBody>
          <a:bodyPr wrap="square" lIns="0" tIns="0" rIns="0" bIns="0" rtlCol="0"/>
          <a:lstStyle/>
          <a:p>
            <a:pPr algn="ctr" indent="0" marL="0">
              <a:buNone/>
            </a:pPr>
            <a:r>
              <a:rPr lang="en-US" sz="4000" b="1" dirty="0">
                <a:solidFill>
                  <a:schemeClr val="tx1"/>
                </a:solidFill>
              </a:rPr>
              <a:t>nanoCAS</a:t>
            </a:r>
            <a:endParaRPr lang="en-US" sz="4000" dirty="0"/>
          </a:p>
        </p:txBody>
      </p:sp>
      <p:sp>
        <p:nvSpPr>
          <p:cNvPr id="3" name="Text 0"/>
          <p:cNvSpPr/>
          <p:nvPr>
            <p:ph idx="103" type="body" hasCustomPrompt="1"/>
          </p:nvPr>
        </p:nvSpPr>
        <p:spPr>
          <a:xfrm>
            <a:off x="1371600" y="3611880"/>
            <a:ext cx="9445752" cy="914400"/>
          </a:xfrm>
          <a:prstGeom prst="rect">
            <a:avLst/>
          </a:prstGeom>
          <a:noFill/>
          <a:ln/>
        </p:spPr>
        <p:txBody>
          <a:bodyPr wrap="square" lIns="0" tIns="0" rIns="0" bIns="0" rtlCol="0"/>
          <a:lstStyle/>
          <a:p>
            <a:pPr algn="ctr" indent="0" marL="0">
              <a:buNone/>
            </a:pPr>
            <a:r>
              <a:rPr lang="en-US" sz="2200" dirty="0">
                <a:solidFill>
                  <a:schemeClr val="tx1"/>
                </a:solidFill>
              </a:rPr>
              <a:t>A real-time classification and alerting system</a:t>
            </a:r>
            <a:endParaRPr lang="en-US" sz="2200" dirty="0"/>
          </a:p>
          <a:p>
            <a:pPr algn="ctr" indent="0" marL="0">
              <a:buNone/>
            </a:pPr>
            <a:r>
              <a:rPr lang="en-US" sz="2200" dirty="0">
                <a:solidFill>
                  <a:schemeClr val="tx1"/>
                </a:solidFill>
              </a:rPr>
              <a:t>for pathogen detection during nanopore sequencing</a:t>
            </a:r>
            <a:endParaRPr lang="en-US" sz="2200" dirty="0"/>
          </a:p>
        </p:txBody>
      </p:sp>
      <p:sp>
        <p:nvSpPr>
          <p:cNvPr id="4" name="Text 2"/>
          <p:cNvSpPr txBox="1"/>
          <p:nvPr/>
        </p:nvSpPr>
        <p:spPr>
          <a:xfrm>
            <a:off x="914400" y="4800600"/>
            <a:ext cx="10360152" cy="320040"/>
          </a:xfrm>
          <a:prstGeom prst="rect">
            <a:avLst/>
          </a:prstGeom>
          <a:noFill/>
          <a:ln/>
        </p:spPr>
        <p:txBody>
          <a:bodyPr wrap="square" lIns="0" tIns="0" rIns="0" bIns="0" rtlCol="0" anchor="ctr"/>
          <a:lstStyle/>
          <a:p>
            <a:pPr algn="ctr" indent="0" marL="0">
              <a:buNone/>
            </a:pPr>
            <a:r>
              <a:rPr lang="en-US" sz="1400" dirty="0">
                <a:solidFill>
                  <a:srgbClr val="6B7A82"/>
                </a:solidFill>
              </a:rPr>
              <a:t>Plant Health, Environmental Surveillance, and Biosecurity: A Joint UK–Canada Symposium   ·   15 October 2026</a:t>
            </a:r>
            <a:endParaRPr lang="en-US" sz="1400" dirty="0"/>
          </a:p>
        </p:txBody>
      </p:sp>
      <p:sp>
        <p:nvSpPr>
          <p:cNvPr id="5" name="Text 3"/>
          <p:cNvSpPr txBox="1"/>
          <p:nvPr/>
        </p:nvSpPr>
        <p:spPr>
          <a:xfrm>
            <a:off x="914400" y="5349240"/>
            <a:ext cx="10360152" cy="320040"/>
          </a:xfrm>
          <a:prstGeom prst="rect">
            <a:avLst/>
          </a:prstGeom>
          <a:noFill/>
          <a:ln/>
        </p:spPr>
        <p:txBody>
          <a:bodyPr wrap="square" lIns="0" tIns="0" rIns="0" bIns="0" rtlCol="0" anchor="ctr"/>
          <a:lstStyle/>
          <a:p>
            <a:pPr algn="ctr" indent="0" marL="0">
              <a:buNone/>
            </a:pPr>
            <a:r>
              <a:rPr lang="en-US" sz="1800" b="1" dirty="0">
                <a:solidFill>
                  <a:schemeClr val="tx1"/>
                </a:solidFill>
              </a:rPr>
              <a:t>Tayab Soomro</a:t>
            </a:r>
            <a:endParaRPr lang="en-US" sz="1800" dirty="0"/>
          </a:p>
        </p:txBody>
      </p:sp>
      <p:sp>
        <p:nvSpPr>
          <p:cNvPr id="6" name="Text 4"/>
          <p:cNvSpPr txBox="1"/>
          <p:nvPr/>
        </p:nvSpPr>
        <p:spPr>
          <a:xfrm>
            <a:off x="914400" y="5669280"/>
            <a:ext cx="10360152" cy="320040"/>
          </a:xfrm>
          <a:prstGeom prst="rect">
            <a:avLst/>
          </a:prstGeom>
          <a:noFill/>
          <a:ln/>
        </p:spPr>
        <p:txBody>
          <a:bodyPr wrap="square" lIns="0" tIns="0" rIns="0" bIns="0" rtlCol="0" anchor="ctr"/>
          <a:lstStyle/>
          <a:p>
            <a:pPr algn="ctr" indent="0" marL="0">
              <a:buNone/>
            </a:pPr>
            <a:r>
              <a:rPr lang="en-US" sz="1400" dirty="0">
                <a:solidFill>
                  <a:srgbClr val="6B7A82"/>
                </a:solidFill>
              </a:rPr>
              <a:t>Bioinformatics Study Leader, Agriculture and Agri-Food Canada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2" type="title" hasCustomPrompt="1"/>
          </p:nvPr>
        </p:nvSpPr>
        <p:spPr>
          <a:xfrm>
            <a:off x="822960" y="777240"/>
            <a:ext cx="10543032" cy="640080"/>
          </a:xfrm>
          <a:prstGeom prst="rect">
            <a:avLst/>
          </a:prstGeom>
          <a:noFill/>
          <a:ln/>
        </p:spPr>
        <p:txBody>
          <a:bodyPr wrap="square" lIns="0" tIns="0" rIns="0" bIns="0" rtlCol="0"/>
          <a:lstStyle/>
          <a:p>
            <a:pPr algn="ctr" indent="0" marL="0">
              <a:buNone/>
            </a:pPr>
            <a:r>
              <a:rPr lang="en-US" sz="2800" b="1" dirty="0">
                <a:solidFill>
                  <a:schemeClr val="tx1"/>
                </a:solidFill>
              </a:rPr>
              <a:t>The answer was in the data at 11 pm. Nobody was there.</a:t>
            </a:r>
            <a:endParaRPr lang="en-US" sz="2800" dirty="0"/>
          </a:p>
        </p:txBody>
      </p:sp>
      <p:sp>
        <p:nvSpPr>
          <p:cNvPr id="3" name="Shape 1"/>
          <p:cNvSpPr/>
          <p:nvPr/>
        </p:nvSpPr>
        <p:spPr>
          <a:xfrm>
            <a:off x="1463040" y="3291840"/>
            <a:ext cx="9235440" cy="0"/>
          </a:xfrm>
          <a:prstGeom prst="line">
            <a:avLst/>
          </a:prstGeom>
          <a:noFill/>
          <a:ln w="19050">
            <a:solidFill>
              <a:srgbClr val="6B7A82"/>
            </a:solidFill>
            <a:prstDash val="solid"/>
          </a:ln>
        </p:spPr>
      </p:sp>
      <p:sp>
        <p:nvSpPr>
          <p:cNvPr id="4" name="Shape 2"/>
          <p:cNvSpPr/>
          <p:nvPr/>
        </p:nvSpPr>
        <p:spPr>
          <a:xfrm>
            <a:off x="1344168" y="3172968"/>
            <a:ext cx="237744" cy="237744"/>
          </a:xfrm>
          <a:prstGeom prst="ellipse">
            <a:avLst/>
          </a:prstGeom>
          <a:solidFill>
            <a:srgbClr val="6B7A82"/>
          </a:solidFill>
          <a:ln w="19050">
            <a:solidFill>
              <a:srgbClr val="FFFFFF"/>
            </a:solidFill>
            <a:prstDash val="solid"/>
          </a:ln>
        </p:spPr>
      </p:sp>
      <p:sp>
        <p:nvSpPr>
          <p:cNvPr id="5" name="Text 3"/>
          <p:cNvSpPr txBox="1"/>
          <p:nvPr/>
        </p:nvSpPr>
        <p:spPr>
          <a:xfrm>
            <a:off x="-91440" y="2423160"/>
            <a:ext cx="3108960" cy="365760"/>
          </a:xfrm>
          <a:prstGeom prst="rect">
            <a:avLst/>
          </a:prstGeom>
          <a:noFill/>
          <a:ln/>
        </p:spPr>
        <p:txBody>
          <a:bodyPr wrap="square" lIns="0" tIns="0" rIns="0" bIns="0" rtlCol="0" anchor="ctr"/>
          <a:lstStyle/>
          <a:p>
            <a:pPr algn="ctr" indent="0" marL="0">
              <a:buNone/>
            </a:pPr>
            <a:r>
              <a:rPr lang="en-US" sz="1800" b="1" dirty="0">
                <a:solidFill>
                  <a:schemeClr val="tx1"/>
                </a:solidFill>
              </a:rPr>
              <a:t>Friday, 4 pm</a:t>
            </a:r>
            <a:endParaRPr lang="en-US" sz="1800" dirty="0"/>
          </a:p>
        </p:txBody>
      </p:sp>
      <p:sp>
        <p:nvSpPr>
          <p:cNvPr id="6" name="Text 4"/>
          <p:cNvSpPr txBox="1"/>
          <p:nvPr/>
        </p:nvSpPr>
        <p:spPr>
          <a:xfrm>
            <a:off x="-182880" y="3611880"/>
            <a:ext cx="3291840" cy="822960"/>
          </a:xfrm>
          <a:prstGeom prst="rect">
            <a:avLst/>
          </a:prstGeom>
          <a:noFill/>
          <a:ln/>
        </p:spPr>
        <p:txBody>
          <a:bodyPr wrap="square" lIns="0" tIns="0" rIns="0" bIns="0" rtlCol="0" anchor="t"/>
          <a:lstStyle/>
          <a:p>
            <a:pPr algn="ctr" indent="0" marL="0">
              <a:buNone/>
            </a:pPr>
            <a:r>
              <a:rPr lang="en-US" sz="1400" dirty="0">
                <a:solidFill>
                  <a:srgbClr val="6B7A82"/>
                </a:solidFill>
              </a:rPr>
              <a:t>A sample from a suspected</a:t>
            </a:r>
            <a:endParaRPr lang="en-US" sz="1400" dirty="0"/>
          </a:p>
          <a:p>
            <a:pPr algn="ctr" indent="0" marL="0">
              <a:buNone/>
            </a:pPr>
            <a:r>
              <a:rPr lang="en-US" sz="1400" dirty="0">
                <a:solidFill>
                  <a:srgbClr val="6B7A82"/>
                </a:solidFill>
              </a:rPr>
              <a:t>interception goes on the MinION.</a:t>
            </a:r>
            <a:endParaRPr lang="en-US" sz="1400" dirty="0"/>
          </a:p>
        </p:txBody>
      </p:sp>
      <p:sp>
        <p:nvSpPr>
          <p:cNvPr id="7" name="Shape 5"/>
          <p:cNvSpPr/>
          <p:nvPr/>
        </p:nvSpPr>
        <p:spPr>
          <a:xfrm>
            <a:off x="5961888" y="3172968"/>
            <a:ext cx="237744" cy="237744"/>
          </a:xfrm>
          <a:prstGeom prst="ellipse">
            <a:avLst/>
          </a:prstGeom>
          <a:solidFill>
            <a:srgbClr val="B5473A"/>
          </a:solidFill>
          <a:ln w="19050">
            <a:solidFill>
              <a:srgbClr val="FFFFFF"/>
            </a:solidFill>
            <a:prstDash val="solid"/>
          </a:ln>
        </p:spPr>
      </p:sp>
      <p:sp>
        <p:nvSpPr>
          <p:cNvPr id="8" name="Text 6"/>
          <p:cNvSpPr txBox="1"/>
          <p:nvPr/>
        </p:nvSpPr>
        <p:spPr>
          <a:xfrm>
            <a:off x="4526280" y="2423160"/>
            <a:ext cx="3108960" cy="365760"/>
          </a:xfrm>
          <a:prstGeom prst="rect">
            <a:avLst/>
          </a:prstGeom>
          <a:noFill/>
          <a:ln/>
        </p:spPr>
        <p:txBody>
          <a:bodyPr wrap="square" lIns="0" tIns="0" rIns="0" bIns="0" rtlCol="0" anchor="ctr"/>
          <a:lstStyle/>
          <a:p>
            <a:pPr algn="ctr" indent="0" marL="0">
              <a:buNone/>
            </a:pPr>
            <a:r>
              <a:rPr lang="en-US" sz="1800" b="1" dirty="0">
                <a:solidFill>
                  <a:srgbClr val="B5473A"/>
                </a:solidFill>
              </a:rPr>
              <a:t>Friday, 11 pm</a:t>
            </a:r>
            <a:endParaRPr lang="en-US" sz="1800" dirty="0"/>
          </a:p>
        </p:txBody>
      </p:sp>
      <p:sp>
        <p:nvSpPr>
          <p:cNvPr id="9" name="Text 7"/>
          <p:cNvSpPr txBox="1"/>
          <p:nvPr/>
        </p:nvSpPr>
        <p:spPr>
          <a:xfrm>
            <a:off x="4434840" y="3611880"/>
            <a:ext cx="3291840" cy="822960"/>
          </a:xfrm>
          <a:prstGeom prst="rect">
            <a:avLst/>
          </a:prstGeom>
          <a:noFill/>
          <a:ln/>
        </p:spPr>
        <p:txBody>
          <a:bodyPr wrap="square" lIns="0" tIns="0" rIns="0" bIns="0" rtlCol="0" anchor="t"/>
          <a:lstStyle/>
          <a:p>
            <a:pPr algn="ctr" indent="0" marL="0">
              <a:buNone/>
            </a:pPr>
            <a:r>
              <a:rPr lang="en-US" sz="1400" dirty="0">
                <a:solidFill>
                  <a:srgbClr val="6B7A82"/>
                </a:solidFill>
              </a:rPr>
              <a:t>Enough reads to call the pathogen</a:t>
            </a:r>
            <a:endParaRPr lang="en-US" sz="1400" dirty="0"/>
          </a:p>
          <a:p>
            <a:pPr algn="ctr" indent="0" marL="0">
              <a:buNone/>
            </a:pPr>
            <a:r>
              <a:rPr lang="en-US" sz="1400" dirty="0">
                <a:solidFill>
                  <a:srgbClr val="6B7A82"/>
                </a:solidFill>
              </a:rPr>
              <a:t>are already on the disk.</a:t>
            </a:r>
            <a:endParaRPr lang="en-US" sz="1400" dirty="0"/>
          </a:p>
        </p:txBody>
      </p:sp>
      <p:sp>
        <p:nvSpPr>
          <p:cNvPr id="10" name="Shape 8"/>
          <p:cNvSpPr/>
          <p:nvPr/>
        </p:nvSpPr>
        <p:spPr>
          <a:xfrm>
            <a:off x="10579608" y="3172968"/>
            <a:ext cx="237744" cy="237744"/>
          </a:xfrm>
          <a:prstGeom prst="ellipse">
            <a:avLst/>
          </a:prstGeom>
          <a:solidFill>
            <a:srgbClr val="6B7A82"/>
          </a:solidFill>
          <a:ln w="19050">
            <a:solidFill>
              <a:srgbClr val="FFFFFF"/>
            </a:solidFill>
            <a:prstDash val="solid"/>
          </a:ln>
        </p:spPr>
      </p:sp>
      <p:sp>
        <p:nvSpPr>
          <p:cNvPr id="11" name="Text 9"/>
          <p:cNvSpPr txBox="1"/>
          <p:nvPr/>
        </p:nvSpPr>
        <p:spPr>
          <a:xfrm>
            <a:off x="9144000" y="2423160"/>
            <a:ext cx="3108960" cy="365760"/>
          </a:xfrm>
          <a:prstGeom prst="rect">
            <a:avLst/>
          </a:prstGeom>
          <a:noFill/>
          <a:ln/>
        </p:spPr>
        <p:txBody>
          <a:bodyPr wrap="square" lIns="0" tIns="0" rIns="0" bIns="0" rtlCol="0" anchor="ctr"/>
          <a:lstStyle/>
          <a:p>
            <a:pPr algn="ctr" indent="0" marL="0">
              <a:buNone/>
            </a:pPr>
            <a:r>
              <a:rPr lang="en-US" sz="1800" b="1" dirty="0">
                <a:solidFill>
                  <a:schemeClr val="tx1"/>
                </a:solidFill>
              </a:rPr>
              <a:t>Monday, 9 am</a:t>
            </a:r>
            <a:endParaRPr lang="en-US" sz="1800" dirty="0"/>
          </a:p>
        </p:txBody>
      </p:sp>
      <p:sp>
        <p:nvSpPr>
          <p:cNvPr id="12" name="Text 10"/>
          <p:cNvSpPr txBox="1"/>
          <p:nvPr/>
        </p:nvSpPr>
        <p:spPr>
          <a:xfrm>
            <a:off x="9052560" y="3611880"/>
            <a:ext cx="3291840" cy="822960"/>
          </a:xfrm>
          <a:prstGeom prst="rect">
            <a:avLst/>
          </a:prstGeom>
          <a:noFill/>
          <a:ln/>
        </p:spPr>
        <p:txBody>
          <a:bodyPr wrap="square" lIns="0" tIns="0" rIns="0" bIns="0" rtlCol="0" anchor="t"/>
          <a:lstStyle/>
          <a:p>
            <a:pPr algn="ctr" indent="0" marL="0">
              <a:buNone/>
            </a:pPr>
            <a:r>
              <a:rPr lang="en-US" sz="1400" dirty="0">
                <a:solidFill>
                  <a:srgbClr val="6B7A82"/>
                </a:solidFill>
              </a:rPr>
              <a:t>Someone opens the laptop</a:t>
            </a:r>
            <a:endParaRPr lang="en-US" sz="1400" dirty="0"/>
          </a:p>
          <a:p>
            <a:pPr algn="ctr" indent="0" marL="0">
              <a:buNone/>
            </a:pPr>
            <a:r>
              <a:rPr lang="en-US" sz="1400" dirty="0">
                <a:solidFill>
                  <a:srgbClr val="6B7A82"/>
                </a:solidFill>
              </a:rPr>
              <a:t>and looks.</a:t>
            </a:r>
            <a:endParaRPr lang="en-US" sz="1400" dirty="0"/>
          </a:p>
        </p:txBody>
      </p:sp>
      <p:sp>
        <p:nvSpPr>
          <p:cNvPr id="13" name="Text 11"/>
          <p:cNvSpPr txBox="1"/>
          <p:nvPr/>
        </p:nvSpPr>
        <p:spPr>
          <a:xfrm>
            <a:off x="1371600" y="4983480"/>
            <a:ext cx="9445752" cy="457200"/>
          </a:xfrm>
          <a:prstGeom prst="rect">
            <a:avLst/>
          </a:prstGeom>
          <a:noFill/>
          <a:ln/>
        </p:spPr>
        <p:txBody>
          <a:bodyPr wrap="square" lIns="0" tIns="0" rIns="0" bIns="0" rtlCol="0" anchor="ctr"/>
          <a:lstStyle/>
          <a:p>
            <a:pPr algn="ctr" indent="0" marL="0">
              <a:buNone/>
            </a:pPr>
            <a:r>
              <a:rPr lang="en-US" sz="1800" i="1" dirty="0">
                <a:solidFill>
                  <a:schemeClr val="tx2"/>
                </a:solidFill>
              </a:rPr>
              <a:t>Sixty hours between the answer existing and the answer being known.</a:t>
            </a:r>
            <a:endParaRPr lang="en-US" sz="1800" dirty="0"/>
          </a:p>
        </p:txBody>
      </p:sp>
      <p:sp>
        <p:nvSpPr>
          <p:cNvPr id="25" name="Slide Number Placeholder 0"/>
          <p:cNvSpPr>
            <a:spLocks noGrp="1"/>
          </p:cNvSpPr>
          <p:nvPr>
            <p:ph type="sldNum" sz="quarter" idx="4294967295"/>
          </p:nvPr>
        </p:nvSpPr>
        <p:spPr>
          <a:xfrm>
            <a:off x="11247120" y="59618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2" type="title" hasCustomPrompt="1"/>
          </p:nvPr>
        </p:nvSpPr>
        <p:spPr>
          <a:xfrm>
            <a:off x="822960" y="777240"/>
            <a:ext cx="10543032" cy="640080"/>
          </a:xfrm>
          <a:prstGeom prst="rect">
            <a:avLst/>
          </a:prstGeom>
          <a:noFill/>
          <a:ln/>
        </p:spPr>
        <p:txBody>
          <a:bodyPr wrap="square" lIns="0" tIns="0" rIns="0" bIns="0" rtlCol="0"/>
          <a:lstStyle/>
          <a:p>
            <a:pPr algn="ctr" indent="0" marL="0">
              <a:buNone/>
            </a:pPr>
            <a:r>
              <a:rPr lang="en-US" sz="2800" b="1" dirty="0">
                <a:solidFill>
                  <a:schemeClr val="tx1"/>
                </a:solidFill>
              </a:rPr>
              <a:t>Real time is the whole point of nanopore</a:t>
            </a:r>
            <a:endParaRPr lang="en-US" sz="2800" dirty="0"/>
          </a:p>
        </p:txBody>
      </p:sp>
      <p:sp>
        <p:nvSpPr>
          <p:cNvPr id="3" name="Text 1"/>
          <p:cNvSpPr txBox="1"/>
          <p:nvPr/>
        </p:nvSpPr>
        <p:spPr>
          <a:xfrm>
            <a:off x="822960" y="2103120"/>
            <a:ext cx="2377440" cy="457200"/>
          </a:xfrm>
          <a:prstGeom prst="rect">
            <a:avLst/>
          </a:prstGeom>
          <a:noFill/>
          <a:ln/>
        </p:spPr>
        <p:txBody>
          <a:bodyPr wrap="square" lIns="0" tIns="0" rIns="0" bIns="0" rtlCol="0" anchor="ctr"/>
          <a:lstStyle/>
          <a:p>
            <a:pPr indent="0" marL="0">
              <a:buNone/>
            </a:pPr>
            <a:r>
              <a:rPr lang="en-US" sz="1600" b="1" dirty="0">
                <a:solidFill>
                  <a:schemeClr val="tx1"/>
                </a:solidFill>
              </a:rPr>
              <a:t>Short-read sequencing</a:t>
            </a:r>
            <a:endParaRPr lang="en-US" sz="1600" dirty="0"/>
          </a:p>
        </p:txBody>
      </p:sp>
      <p:sp>
        <p:nvSpPr>
          <p:cNvPr id="4" name="Shape 2"/>
          <p:cNvSpPr/>
          <p:nvPr/>
        </p:nvSpPr>
        <p:spPr>
          <a:xfrm>
            <a:off x="3291840" y="2148840"/>
            <a:ext cx="6949440" cy="365760"/>
          </a:xfrm>
          <a:prstGeom prst="rect">
            <a:avLst/>
          </a:prstGeom>
          <a:solidFill>
            <a:srgbClr val="EEF2EF"/>
          </a:solidFill>
          <a:ln w="12700">
            <a:solidFill>
              <a:srgbClr val="C9D6CD"/>
            </a:solidFill>
            <a:prstDash val="solid"/>
          </a:ln>
        </p:spPr>
      </p:sp>
      <p:sp>
        <p:nvSpPr>
          <p:cNvPr id="5" name="Shape 3"/>
          <p:cNvSpPr/>
          <p:nvPr/>
        </p:nvSpPr>
        <p:spPr>
          <a:xfrm>
            <a:off x="9921240" y="2148840"/>
            <a:ext cx="320040" cy="365760"/>
          </a:xfrm>
          <a:prstGeom prst="rect">
            <a:avLst/>
          </a:prstGeom>
          <a:solidFill>
            <a:srgbClr val="1E3E2F"/>
          </a:solidFill>
          <a:ln w="12700">
            <a:solidFill>
              <a:srgbClr val="1E3E2F"/>
            </a:solidFill>
            <a:prstDash val="solid"/>
          </a:ln>
        </p:spPr>
      </p:sp>
      <p:sp>
        <p:nvSpPr>
          <p:cNvPr id="6" name="Text 4"/>
          <p:cNvSpPr txBox="1"/>
          <p:nvPr/>
        </p:nvSpPr>
        <p:spPr>
          <a:xfrm>
            <a:off x="3291840" y="2606040"/>
            <a:ext cx="6949440" cy="320040"/>
          </a:xfrm>
          <a:prstGeom prst="rect">
            <a:avLst/>
          </a:prstGeom>
          <a:noFill/>
          <a:ln/>
        </p:spPr>
        <p:txBody>
          <a:bodyPr wrap="square" lIns="0" tIns="0" rIns="0" bIns="0" rtlCol="0" anchor="ctr"/>
          <a:lstStyle/>
          <a:p>
            <a:pPr indent="0" marL="0">
              <a:buNone/>
            </a:pPr>
            <a:r>
              <a:rPr lang="en-US" sz="1300" dirty="0">
                <a:solidFill>
                  <a:srgbClr val="6B7A82"/>
                </a:solidFill>
              </a:rPr>
              <a:t>Result at the end of the run</a:t>
            </a:r>
            <a:endParaRPr lang="en-US" sz="1300" dirty="0"/>
          </a:p>
        </p:txBody>
      </p:sp>
      <p:sp>
        <p:nvSpPr>
          <p:cNvPr id="7" name="Text 5"/>
          <p:cNvSpPr txBox="1"/>
          <p:nvPr/>
        </p:nvSpPr>
        <p:spPr>
          <a:xfrm>
            <a:off x="822960" y="3429000"/>
            <a:ext cx="2377440" cy="457200"/>
          </a:xfrm>
          <a:prstGeom prst="rect">
            <a:avLst/>
          </a:prstGeom>
          <a:noFill/>
          <a:ln/>
        </p:spPr>
        <p:txBody>
          <a:bodyPr wrap="square" lIns="0" tIns="0" rIns="0" bIns="0" rtlCol="0" anchor="ctr"/>
          <a:lstStyle/>
          <a:p>
            <a:pPr indent="0" marL="0">
              <a:buNone/>
            </a:pPr>
            <a:r>
              <a:rPr lang="en-US" sz="1600" b="1" dirty="0">
                <a:solidFill>
                  <a:schemeClr val="tx1"/>
                </a:solidFill>
              </a:rPr>
              <a:t>Nanopore sequencing</a:t>
            </a:r>
            <a:endParaRPr lang="en-US" sz="1600" dirty="0"/>
          </a:p>
        </p:txBody>
      </p:sp>
      <p:sp>
        <p:nvSpPr>
          <p:cNvPr id="8" name="Shape 6"/>
          <p:cNvSpPr/>
          <p:nvPr/>
        </p:nvSpPr>
        <p:spPr>
          <a:xfrm>
            <a:off x="3291840" y="3474720"/>
            <a:ext cx="6949440" cy="365760"/>
          </a:xfrm>
          <a:prstGeom prst="rect">
            <a:avLst/>
          </a:prstGeom>
          <a:solidFill>
            <a:srgbClr val="EEF2EF"/>
          </a:solidFill>
          <a:ln w="12700">
            <a:solidFill>
              <a:srgbClr val="C9D6CD"/>
            </a:solidFill>
            <a:prstDash val="solid"/>
          </a:ln>
        </p:spPr>
      </p:sp>
      <p:sp>
        <p:nvSpPr>
          <p:cNvPr id="9" name="Shape 7"/>
          <p:cNvSpPr/>
          <p:nvPr/>
        </p:nvSpPr>
        <p:spPr>
          <a:xfrm>
            <a:off x="3364992" y="3520440"/>
            <a:ext cx="237744" cy="274320"/>
          </a:xfrm>
          <a:prstGeom prst="rect">
            <a:avLst/>
          </a:prstGeom>
          <a:solidFill>
            <a:srgbClr val="1E3E2F"/>
          </a:solidFill>
          <a:ln w="12700">
            <a:solidFill>
              <a:srgbClr val="1E3E2F"/>
            </a:solidFill>
            <a:prstDash val="solid"/>
          </a:ln>
        </p:spPr>
      </p:sp>
      <p:sp>
        <p:nvSpPr>
          <p:cNvPr id="10" name="Shape 8"/>
          <p:cNvSpPr/>
          <p:nvPr/>
        </p:nvSpPr>
        <p:spPr>
          <a:xfrm>
            <a:off x="3708806" y="3520440"/>
            <a:ext cx="237744" cy="274320"/>
          </a:xfrm>
          <a:prstGeom prst="rect">
            <a:avLst/>
          </a:prstGeom>
          <a:solidFill>
            <a:srgbClr val="1E3E2F"/>
          </a:solidFill>
          <a:ln w="12700">
            <a:solidFill>
              <a:srgbClr val="1E3E2F"/>
            </a:solidFill>
            <a:prstDash val="solid"/>
          </a:ln>
        </p:spPr>
      </p:sp>
      <p:sp>
        <p:nvSpPr>
          <p:cNvPr id="11" name="Shape 9"/>
          <p:cNvSpPr/>
          <p:nvPr/>
        </p:nvSpPr>
        <p:spPr>
          <a:xfrm>
            <a:off x="4052621" y="3520440"/>
            <a:ext cx="237744" cy="274320"/>
          </a:xfrm>
          <a:prstGeom prst="rect">
            <a:avLst/>
          </a:prstGeom>
          <a:solidFill>
            <a:srgbClr val="1E3E2F"/>
          </a:solidFill>
          <a:ln w="12700">
            <a:solidFill>
              <a:srgbClr val="1E3E2F"/>
            </a:solidFill>
            <a:prstDash val="solid"/>
          </a:ln>
        </p:spPr>
      </p:sp>
      <p:sp>
        <p:nvSpPr>
          <p:cNvPr id="12" name="Shape 10"/>
          <p:cNvSpPr/>
          <p:nvPr/>
        </p:nvSpPr>
        <p:spPr>
          <a:xfrm>
            <a:off x="4396435" y="3520440"/>
            <a:ext cx="237744" cy="274320"/>
          </a:xfrm>
          <a:prstGeom prst="rect">
            <a:avLst/>
          </a:prstGeom>
          <a:solidFill>
            <a:srgbClr val="1E3E2F"/>
          </a:solidFill>
          <a:ln w="12700">
            <a:solidFill>
              <a:srgbClr val="1E3E2F"/>
            </a:solidFill>
            <a:prstDash val="solid"/>
          </a:ln>
        </p:spPr>
      </p:sp>
      <p:sp>
        <p:nvSpPr>
          <p:cNvPr id="13" name="Shape 11"/>
          <p:cNvSpPr/>
          <p:nvPr/>
        </p:nvSpPr>
        <p:spPr>
          <a:xfrm>
            <a:off x="4740250" y="3520440"/>
            <a:ext cx="237744" cy="274320"/>
          </a:xfrm>
          <a:prstGeom prst="rect">
            <a:avLst/>
          </a:prstGeom>
          <a:solidFill>
            <a:srgbClr val="1E3E2F"/>
          </a:solidFill>
          <a:ln w="12700">
            <a:solidFill>
              <a:srgbClr val="1E3E2F"/>
            </a:solidFill>
            <a:prstDash val="solid"/>
          </a:ln>
        </p:spPr>
      </p:sp>
      <p:sp>
        <p:nvSpPr>
          <p:cNvPr id="14" name="Shape 12"/>
          <p:cNvSpPr/>
          <p:nvPr/>
        </p:nvSpPr>
        <p:spPr>
          <a:xfrm>
            <a:off x="5084064" y="3520440"/>
            <a:ext cx="237744" cy="274320"/>
          </a:xfrm>
          <a:prstGeom prst="rect">
            <a:avLst/>
          </a:prstGeom>
          <a:solidFill>
            <a:srgbClr val="1E3E2F"/>
          </a:solidFill>
          <a:ln w="12700">
            <a:solidFill>
              <a:srgbClr val="1E3E2F"/>
            </a:solidFill>
            <a:prstDash val="solid"/>
          </a:ln>
        </p:spPr>
      </p:sp>
      <p:sp>
        <p:nvSpPr>
          <p:cNvPr id="15" name="Shape 13"/>
          <p:cNvSpPr/>
          <p:nvPr/>
        </p:nvSpPr>
        <p:spPr>
          <a:xfrm>
            <a:off x="5427878" y="3520440"/>
            <a:ext cx="237744" cy="274320"/>
          </a:xfrm>
          <a:prstGeom prst="rect">
            <a:avLst/>
          </a:prstGeom>
          <a:solidFill>
            <a:srgbClr val="1E3E2F"/>
          </a:solidFill>
          <a:ln w="12700">
            <a:solidFill>
              <a:srgbClr val="1E3E2F"/>
            </a:solidFill>
            <a:prstDash val="solid"/>
          </a:ln>
        </p:spPr>
      </p:sp>
      <p:sp>
        <p:nvSpPr>
          <p:cNvPr id="16" name="Shape 14"/>
          <p:cNvSpPr/>
          <p:nvPr/>
        </p:nvSpPr>
        <p:spPr>
          <a:xfrm>
            <a:off x="5771693" y="3520440"/>
            <a:ext cx="237744" cy="274320"/>
          </a:xfrm>
          <a:prstGeom prst="rect">
            <a:avLst/>
          </a:prstGeom>
          <a:solidFill>
            <a:srgbClr val="1E3E2F"/>
          </a:solidFill>
          <a:ln w="12700">
            <a:solidFill>
              <a:srgbClr val="1E3E2F"/>
            </a:solidFill>
            <a:prstDash val="solid"/>
          </a:ln>
        </p:spPr>
      </p:sp>
      <p:sp>
        <p:nvSpPr>
          <p:cNvPr id="17" name="Shape 15"/>
          <p:cNvSpPr/>
          <p:nvPr/>
        </p:nvSpPr>
        <p:spPr>
          <a:xfrm>
            <a:off x="6115507" y="3520440"/>
            <a:ext cx="237744" cy="274320"/>
          </a:xfrm>
          <a:prstGeom prst="rect">
            <a:avLst/>
          </a:prstGeom>
          <a:solidFill>
            <a:srgbClr val="1E3E2F"/>
          </a:solidFill>
          <a:ln w="12700">
            <a:solidFill>
              <a:srgbClr val="1E3E2F"/>
            </a:solidFill>
            <a:prstDash val="solid"/>
          </a:ln>
        </p:spPr>
      </p:sp>
      <p:sp>
        <p:nvSpPr>
          <p:cNvPr id="18" name="Shape 16"/>
          <p:cNvSpPr/>
          <p:nvPr/>
        </p:nvSpPr>
        <p:spPr>
          <a:xfrm>
            <a:off x="6459322" y="3520440"/>
            <a:ext cx="237744" cy="274320"/>
          </a:xfrm>
          <a:prstGeom prst="rect">
            <a:avLst/>
          </a:prstGeom>
          <a:solidFill>
            <a:srgbClr val="1E3E2F"/>
          </a:solidFill>
          <a:ln w="12700">
            <a:solidFill>
              <a:srgbClr val="1E3E2F"/>
            </a:solidFill>
            <a:prstDash val="solid"/>
          </a:ln>
        </p:spPr>
      </p:sp>
      <p:sp>
        <p:nvSpPr>
          <p:cNvPr id="19" name="Shape 17"/>
          <p:cNvSpPr/>
          <p:nvPr/>
        </p:nvSpPr>
        <p:spPr>
          <a:xfrm>
            <a:off x="6803136" y="3520440"/>
            <a:ext cx="237744" cy="274320"/>
          </a:xfrm>
          <a:prstGeom prst="rect">
            <a:avLst/>
          </a:prstGeom>
          <a:solidFill>
            <a:srgbClr val="1E3E2F"/>
          </a:solidFill>
          <a:ln w="12700">
            <a:solidFill>
              <a:srgbClr val="1E3E2F"/>
            </a:solidFill>
            <a:prstDash val="solid"/>
          </a:ln>
        </p:spPr>
      </p:sp>
      <p:sp>
        <p:nvSpPr>
          <p:cNvPr id="20" name="Shape 18"/>
          <p:cNvSpPr/>
          <p:nvPr/>
        </p:nvSpPr>
        <p:spPr>
          <a:xfrm>
            <a:off x="7146950" y="3520440"/>
            <a:ext cx="237744" cy="274320"/>
          </a:xfrm>
          <a:prstGeom prst="rect">
            <a:avLst/>
          </a:prstGeom>
          <a:solidFill>
            <a:srgbClr val="1E3E2F"/>
          </a:solidFill>
          <a:ln w="12700">
            <a:solidFill>
              <a:srgbClr val="1E3E2F"/>
            </a:solidFill>
            <a:prstDash val="solid"/>
          </a:ln>
        </p:spPr>
      </p:sp>
      <p:sp>
        <p:nvSpPr>
          <p:cNvPr id="21" name="Shape 19"/>
          <p:cNvSpPr/>
          <p:nvPr/>
        </p:nvSpPr>
        <p:spPr>
          <a:xfrm>
            <a:off x="7490765" y="3520440"/>
            <a:ext cx="237744" cy="274320"/>
          </a:xfrm>
          <a:prstGeom prst="rect">
            <a:avLst/>
          </a:prstGeom>
          <a:solidFill>
            <a:srgbClr val="1E3E2F"/>
          </a:solidFill>
          <a:ln w="12700">
            <a:solidFill>
              <a:srgbClr val="1E3E2F"/>
            </a:solidFill>
            <a:prstDash val="solid"/>
          </a:ln>
        </p:spPr>
      </p:sp>
      <p:sp>
        <p:nvSpPr>
          <p:cNvPr id="22" name="Shape 20"/>
          <p:cNvSpPr/>
          <p:nvPr/>
        </p:nvSpPr>
        <p:spPr>
          <a:xfrm>
            <a:off x="7834579" y="3520440"/>
            <a:ext cx="237744" cy="274320"/>
          </a:xfrm>
          <a:prstGeom prst="rect">
            <a:avLst/>
          </a:prstGeom>
          <a:solidFill>
            <a:srgbClr val="1E3E2F"/>
          </a:solidFill>
          <a:ln w="12700">
            <a:solidFill>
              <a:srgbClr val="1E3E2F"/>
            </a:solidFill>
            <a:prstDash val="solid"/>
          </a:ln>
        </p:spPr>
      </p:sp>
      <p:sp>
        <p:nvSpPr>
          <p:cNvPr id="23" name="Shape 21"/>
          <p:cNvSpPr/>
          <p:nvPr/>
        </p:nvSpPr>
        <p:spPr>
          <a:xfrm>
            <a:off x="8178394" y="3520440"/>
            <a:ext cx="237744" cy="274320"/>
          </a:xfrm>
          <a:prstGeom prst="rect">
            <a:avLst/>
          </a:prstGeom>
          <a:solidFill>
            <a:srgbClr val="1E3E2F"/>
          </a:solidFill>
          <a:ln w="12700">
            <a:solidFill>
              <a:srgbClr val="1E3E2F"/>
            </a:solidFill>
            <a:prstDash val="solid"/>
          </a:ln>
        </p:spPr>
      </p:sp>
      <p:sp>
        <p:nvSpPr>
          <p:cNvPr id="24" name="Shape 22"/>
          <p:cNvSpPr/>
          <p:nvPr/>
        </p:nvSpPr>
        <p:spPr>
          <a:xfrm>
            <a:off x="8522208" y="3520440"/>
            <a:ext cx="237744" cy="274320"/>
          </a:xfrm>
          <a:prstGeom prst="rect">
            <a:avLst/>
          </a:prstGeom>
          <a:solidFill>
            <a:srgbClr val="1E3E2F"/>
          </a:solidFill>
          <a:ln w="12700">
            <a:solidFill>
              <a:srgbClr val="1E3E2F"/>
            </a:solidFill>
            <a:prstDash val="solid"/>
          </a:ln>
        </p:spPr>
      </p:sp>
      <p:sp>
        <p:nvSpPr>
          <p:cNvPr id="25" name="Shape 23"/>
          <p:cNvSpPr/>
          <p:nvPr/>
        </p:nvSpPr>
        <p:spPr>
          <a:xfrm>
            <a:off x="8866022" y="3520440"/>
            <a:ext cx="237744" cy="274320"/>
          </a:xfrm>
          <a:prstGeom prst="rect">
            <a:avLst/>
          </a:prstGeom>
          <a:solidFill>
            <a:srgbClr val="1E3E2F"/>
          </a:solidFill>
          <a:ln w="12700">
            <a:solidFill>
              <a:srgbClr val="1E3E2F"/>
            </a:solidFill>
            <a:prstDash val="solid"/>
          </a:ln>
        </p:spPr>
      </p:sp>
      <p:sp>
        <p:nvSpPr>
          <p:cNvPr id="26" name="Shape 24"/>
          <p:cNvSpPr/>
          <p:nvPr/>
        </p:nvSpPr>
        <p:spPr>
          <a:xfrm>
            <a:off x="9209837" y="3520440"/>
            <a:ext cx="237744" cy="274320"/>
          </a:xfrm>
          <a:prstGeom prst="rect">
            <a:avLst/>
          </a:prstGeom>
          <a:solidFill>
            <a:srgbClr val="1E3E2F"/>
          </a:solidFill>
          <a:ln w="12700">
            <a:solidFill>
              <a:srgbClr val="1E3E2F"/>
            </a:solidFill>
            <a:prstDash val="solid"/>
          </a:ln>
        </p:spPr>
      </p:sp>
      <p:sp>
        <p:nvSpPr>
          <p:cNvPr id="27" name="Shape 25"/>
          <p:cNvSpPr/>
          <p:nvPr/>
        </p:nvSpPr>
        <p:spPr>
          <a:xfrm>
            <a:off x="9553651" y="3520440"/>
            <a:ext cx="237744" cy="274320"/>
          </a:xfrm>
          <a:prstGeom prst="rect">
            <a:avLst/>
          </a:prstGeom>
          <a:solidFill>
            <a:srgbClr val="1E3E2F"/>
          </a:solidFill>
          <a:ln w="12700">
            <a:solidFill>
              <a:srgbClr val="1E3E2F"/>
            </a:solidFill>
            <a:prstDash val="solid"/>
          </a:ln>
        </p:spPr>
      </p:sp>
      <p:sp>
        <p:nvSpPr>
          <p:cNvPr id="28" name="Shape 26"/>
          <p:cNvSpPr/>
          <p:nvPr/>
        </p:nvSpPr>
        <p:spPr>
          <a:xfrm>
            <a:off x="9897466" y="3520440"/>
            <a:ext cx="237744" cy="274320"/>
          </a:xfrm>
          <a:prstGeom prst="rect">
            <a:avLst/>
          </a:prstGeom>
          <a:solidFill>
            <a:srgbClr val="1E3E2F"/>
          </a:solidFill>
          <a:ln w="12700">
            <a:solidFill>
              <a:srgbClr val="1E3E2F"/>
            </a:solidFill>
            <a:prstDash val="solid"/>
          </a:ln>
        </p:spPr>
      </p:sp>
      <p:sp>
        <p:nvSpPr>
          <p:cNvPr id="29" name="Text 27"/>
          <p:cNvSpPr txBox="1"/>
          <p:nvPr/>
        </p:nvSpPr>
        <p:spPr>
          <a:xfrm>
            <a:off x="3291840" y="3931920"/>
            <a:ext cx="6949440" cy="320040"/>
          </a:xfrm>
          <a:prstGeom prst="rect">
            <a:avLst/>
          </a:prstGeom>
          <a:noFill/>
          <a:ln/>
        </p:spPr>
        <p:txBody>
          <a:bodyPr wrap="square" lIns="0" tIns="0" rIns="0" bIns="0" rtlCol="0" anchor="ctr"/>
          <a:lstStyle/>
          <a:p>
            <a:pPr indent="0" marL="0">
              <a:buNone/>
            </a:pPr>
            <a:r>
              <a:rPr lang="en-US" sz="1300" dirty="0">
                <a:solidFill>
                  <a:srgbClr val="6B7A82"/>
                </a:solidFill>
              </a:rPr>
              <a:t>Reads arrive every few minutes, from the first minute</a:t>
            </a:r>
            <a:endParaRPr lang="en-US" sz="1300" dirty="0"/>
          </a:p>
        </p:txBody>
      </p:sp>
      <p:sp>
        <p:nvSpPr>
          <p:cNvPr id="30" name="Shape 28"/>
          <p:cNvSpPr/>
          <p:nvPr/>
        </p:nvSpPr>
        <p:spPr>
          <a:xfrm>
            <a:off x="3291840" y="4800600"/>
            <a:ext cx="6949440" cy="0"/>
          </a:xfrm>
          <a:prstGeom prst="line">
            <a:avLst/>
          </a:prstGeom>
          <a:noFill/>
          <a:ln w="12700">
            <a:solidFill>
              <a:srgbClr val="6B7A82"/>
            </a:solidFill>
            <a:prstDash val="solid"/>
          </a:ln>
        </p:spPr>
      </p:sp>
      <p:sp>
        <p:nvSpPr>
          <p:cNvPr id="31" name="Text 29"/>
          <p:cNvSpPr txBox="1"/>
          <p:nvPr/>
        </p:nvSpPr>
        <p:spPr>
          <a:xfrm>
            <a:off x="3291840" y="4864608"/>
            <a:ext cx="1828800" cy="274320"/>
          </a:xfrm>
          <a:prstGeom prst="rect">
            <a:avLst/>
          </a:prstGeom>
          <a:noFill/>
          <a:ln/>
        </p:spPr>
        <p:txBody>
          <a:bodyPr wrap="square" lIns="0" tIns="0" rIns="0" bIns="0" rtlCol="0" anchor="ctr"/>
          <a:lstStyle/>
          <a:p>
            <a:pPr indent="0" marL="0">
              <a:buNone/>
            </a:pPr>
            <a:r>
              <a:rPr lang="en-US" sz="1200" dirty="0">
                <a:solidFill>
                  <a:srgbClr val="6B7A82"/>
                </a:solidFill>
              </a:rPr>
              <a:t>run start</a:t>
            </a:r>
            <a:endParaRPr lang="en-US" sz="1200" dirty="0"/>
          </a:p>
        </p:txBody>
      </p:sp>
      <p:sp>
        <p:nvSpPr>
          <p:cNvPr id="32" name="Text 30"/>
          <p:cNvSpPr txBox="1"/>
          <p:nvPr/>
        </p:nvSpPr>
        <p:spPr>
          <a:xfrm>
            <a:off x="8412480" y="4864608"/>
            <a:ext cx="1828800" cy="274320"/>
          </a:xfrm>
          <a:prstGeom prst="rect">
            <a:avLst/>
          </a:prstGeom>
          <a:noFill/>
          <a:ln/>
        </p:spPr>
        <p:txBody>
          <a:bodyPr wrap="square" lIns="0" tIns="0" rIns="0" bIns="0" rtlCol="0" anchor="ctr"/>
          <a:lstStyle/>
          <a:p>
            <a:pPr algn="r" indent="0" marL="0">
              <a:buNone/>
            </a:pPr>
            <a:r>
              <a:rPr lang="en-US" sz="1200" dirty="0">
                <a:solidFill>
                  <a:srgbClr val="6B7A82"/>
                </a:solidFill>
              </a:rPr>
              <a:t>run end</a:t>
            </a:r>
            <a:endParaRPr lang="en-US" sz="1200" dirty="0"/>
          </a:p>
        </p:txBody>
      </p:sp>
      <p:sp>
        <p:nvSpPr>
          <p:cNvPr id="33" name="Text 31"/>
          <p:cNvSpPr txBox="1"/>
          <p:nvPr/>
        </p:nvSpPr>
        <p:spPr>
          <a:xfrm>
            <a:off x="822960" y="5532120"/>
            <a:ext cx="10543032" cy="548640"/>
          </a:xfrm>
          <a:prstGeom prst="rect">
            <a:avLst/>
          </a:prstGeom>
          <a:noFill/>
          <a:ln/>
        </p:spPr>
        <p:txBody>
          <a:bodyPr wrap="square" lIns="0" tIns="0" rIns="0" bIns="0" rtlCol="0" anchor="ctr"/>
          <a:lstStyle/>
          <a:p>
            <a:pPr algn="ctr" indent="0" marL="0">
              <a:buNone/>
            </a:pPr>
            <a:r>
              <a:rPr lang="en-US" sz="1500" i="1" dirty="0">
                <a:solidFill>
                  <a:schemeClr val="tx2"/>
                </a:solidFill>
              </a:rPr>
              <a:t>A positive sample can be called hours before the flow cell is spent. A negative one needs the whole run, and someone has to know which is which.</a:t>
            </a:r>
            <a:endParaRPr lang="en-US" sz="1500" dirty="0"/>
          </a:p>
        </p:txBody>
      </p:sp>
      <p:sp>
        <p:nvSpPr>
          <p:cNvPr id="25" name="Slide Number Placeholder 0"/>
          <p:cNvSpPr>
            <a:spLocks noGrp="1"/>
          </p:cNvSpPr>
          <p:nvPr>
            <p:ph type="sldNum" sz="quarter" idx="4294967295"/>
          </p:nvPr>
        </p:nvSpPr>
        <p:spPr>
          <a:xfrm>
            <a:off x="11247120" y="59618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2" type="title" hasCustomPrompt="1"/>
          </p:nvPr>
        </p:nvSpPr>
        <p:spPr>
          <a:xfrm>
            <a:off x="822960" y="777240"/>
            <a:ext cx="10543032" cy="640080"/>
          </a:xfrm>
          <a:prstGeom prst="rect">
            <a:avLst/>
          </a:prstGeom>
          <a:noFill/>
          <a:ln/>
        </p:spPr>
        <p:txBody>
          <a:bodyPr wrap="square" lIns="0" tIns="0" rIns="0" bIns="0" rtlCol="0"/>
          <a:lstStyle/>
          <a:p>
            <a:pPr algn="ctr" indent="0" marL="0">
              <a:buNone/>
            </a:pPr>
            <a:r>
              <a:rPr lang="en-US" sz="2800" b="1" dirty="0">
                <a:solidFill>
                  <a:schemeClr val="tx1"/>
                </a:solidFill>
              </a:rPr>
              <a:t>Three ways the real-time advantage gets lost</a:t>
            </a:r>
            <a:endParaRPr lang="en-US" sz="2800" dirty="0"/>
          </a:p>
        </p:txBody>
      </p:sp>
      <p:sp>
        <p:nvSpPr>
          <p:cNvPr id="3" name="Shape 1"/>
          <p:cNvSpPr/>
          <p:nvPr/>
        </p:nvSpPr>
        <p:spPr>
          <a:xfrm>
            <a:off x="792328" y="1828800"/>
            <a:ext cx="3291840" cy="3566160"/>
          </a:xfrm>
          <a:prstGeom prst="roundRect">
            <a:avLst>
              <a:gd name="adj" fmla="val 2222"/>
            </a:avLst>
          </a:prstGeom>
          <a:solidFill>
            <a:srgbClr val="EEF2EF"/>
          </a:solidFill>
          <a:ln w="12700">
            <a:solidFill>
              <a:srgbClr val="EEF2EF"/>
            </a:solidFill>
            <a:prstDash val="solid"/>
          </a:ln>
        </p:spPr>
      </p:sp>
      <p:sp>
        <p:nvSpPr>
          <p:cNvPr id="4" name="Shape 2"/>
          <p:cNvSpPr/>
          <p:nvPr/>
        </p:nvSpPr>
        <p:spPr>
          <a:xfrm>
            <a:off x="1112368" y="2148840"/>
            <a:ext cx="731520" cy="731520"/>
          </a:xfrm>
          <a:prstGeom prst="ellipse">
            <a:avLst/>
          </a:prstGeom>
          <a:solidFill>
            <a:srgbClr val="FFFFFF"/>
          </a:solidFill>
          <a:ln w="12700">
            <a:solidFill>
              <a:srgbClr val="FFFFFF"/>
            </a:solidFill>
            <a:prstDash val="solid"/>
          </a:ln>
        </p:spPr>
      </p:sp>
      <p:pic>
        <p:nvPicPr>
          <p:cNvPr id="5" name="Image 0" descr="preencoded.png">    </p:cNvPr>
          <p:cNvPicPr>
            <a:picLocks noChangeAspect="1"/>
          </p:cNvPicPr>
          <p:nvPr/>
        </p:nvPicPr>
        <p:blipFill>
          <a:blip r:embed="rId1"/>
          <a:stretch>
            <a:fillRect/>
          </a:stretch>
        </p:blipFill>
        <p:spPr>
          <a:xfrm>
            <a:off x="1267816" y="2304288"/>
            <a:ext cx="420624" cy="420624"/>
          </a:xfrm>
          <a:prstGeom prst="rect">
            <a:avLst/>
          </a:prstGeom>
        </p:spPr>
      </p:pic>
      <p:sp>
        <p:nvSpPr>
          <p:cNvPr id="6" name="Text 3"/>
          <p:cNvSpPr txBox="1"/>
          <p:nvPr/>
        </p:nvSpPr>
        <p:spPr>
          <a:xfrm>
            <a:off x="1112368" y="3108960"/>
            <a:ext cx="2651760" cy="457200"/>
          </a:xfrm>
          <a:prstGeom prst="rect">
            <a:avLst/>
          </a:prstGeom>
          <a:noFill/>
          <a:ln/>
        </p:spPr>
        <p:txBody>
          <a:bodyPr wrap="square" lIns="0" tIns="0" rIns="0" bIns="0" rtlCol="0" anchor="ctr"/>
          <a:lstStyle/>
          <a:p>
            <a:pPr indent="0" marL="0">
              <a:buNone/>
            </a:pPr>
            <a:r>
              <a:rPr lang="en-US" sz="1800" b="1" dirty="0">
                <a:solidFill>
                  <a:schemeClr val="tx2"/>
                </a:solidFill>
              </a:rPr>
              <a:t>Someone has to watch</a:t>
            </a:r>
            <a:endParaRPr lang="en-US" sz="1800" dirty="0"/>
          </a:p>
        </p:txBody>
      </p:sp>
      <p:sp>
        <p:nvSpPr>
          <p:cNvPr id="7" name="Text 4"/>
          <p:cNvSpPr txBox="1"/>
          <p:nvPr/>
        </p:nvSpPr>
        <p:spPr>
          <a:xfrm>
            <a:off x="1112368" y="3657600"/>
            <a:ext cx="2651760" cy="1554480"/>
          </a:xfrm>
          <a:prstGeom prst="rect">
            <a:avLst/>
          </a:prstGeom>
          <a:noFill/>
          <a:ln/>
        </p:spPr>
        <p:txBody>
          <a:bodyPr wrap="square" lIns="0" tIns="0" rIns="0" bIns="0" rtlCol="0" anchor="t"/>
          <a:lstStyle/>
          <a:p>
            <a:pPr indent="0" marL="0">
              <a:buNone/>
            </a:pPr>
            <a:r>
              <a:rPr lang="en-US" sz="1400" dirty="0">
                <a:solidFill>
                  <a:schemeClr val="tx1"/>
                </a:solidFill>
              </a:rPr>
              <a:t>Live plots exist, but a plot does not decide anything. A person has to notice the line crossing a value they carry in their head.</a:t>
            </a:r>
            <a:endParaRPr lang="en-US" sz="1400" dirty="0"/>
          </a:p>
        </p:txBody>
      </p:sp>
      <p:sp>
        <p:nvSpPr>
          <p:cNvPr id="8" name="Shape 5"/>
          <p:cNvSpPr/>
          <p:nvPr/>
        </p:nvSpPr>
        <p:spPr>
          <a:xfrm>
            <a:off x="4449928" y="1828800"/>
            <a:ext cx="3291840" cy="3566160"/>
          </a:xfrm>
          <a:prstGeom prst="roundRect">
            <a:avLst>
              <a:gd name="adj" fmla="val 2222"/>
            </a:avLst>
          </a:prstGeom>
          <a:solidFill>
            <a:srgbClr val="EEF2EF"/>
          </a:solidFill>
          <a:ln w="12700">
            <a:solidFill>
              <a:srgbClr val="EEF2EF"/>
            </a:solidFill>
            <a:prstDash val="solid"/>
          </a:ln>
        </p:spPr>
      </p:sp>
      <p:sp>
        <p:nvSpPr>
          <p:cNvPr id="9" name="Shape 6"/>
          <p:cNvSpPr/>
          <p:nvPr/>
        </p:nvSpPr>
        <p:spPr>
          <a:xfrm>
            <a:off x="4769968" y="2148840"/>
            <a:ext cx="731520" cy="731520"/>
          </a:xfrm>
          <a:prstGeom prst="ellipse">
            <a:avLst/>
          </a:prstGeom>
          <a:solidFill>
            <a:srgbClr val="FFFFFF"/>
          </a:solidFill>
          <a:ln w="12700">
            <a:solidFill>
              <a:srgbClr val="FFFFFF"/>
            </a:solidFill>
            <a:prstDash val="solid"/>
          </a:ln>
        </p:spPr>
      </p:sp>
      <p:pic>
        <p:nvPicPr>
          <p:cNvPr id="10" name="Image 1" descr="preencoded.png">    </p:cNvPr>
          <p:cNvPicPr>
            <a:picLocks noChangeAspect="1"/>
          </p:cNvPicPr>
          <p:nvPr/>
        </p:nvPicPr>
        <p:blipFill>
          <a:blip r:embed="rId2"/>
          <a:stretch>
            <a:fillRect/>
          </a:stretch>
        </p:blipFill>
        <p:spPr>
          <a:xfrm>
            <a:off x="4925416" y="2304288"/>
            <a:ext cx="420624" cy="420624"/>
          </a:xfrm>
          <a:prstGeom prst="rect">
            <a:avLst/>
          </a:prstGeom>
        </p:spPr>
      </p:pic>
      <p:sp>
        <p:nvSpPr>
          <p:cNvPr id="11" name="Text 7"/>
          <p:cNvSpPr txBox="1"/>
          <p:nvPr/>
        </p:nvSpPr>
        <p:spPr>
          <a:xfrm>
            <a:off x="4769968" y="3108960"/>
            <a:ext cx="2651760" cy="457200"/>
          </a:xfrm>
          <a:prstGeom prst="rect">
            <a:avLst/>
          </a:prstGeom>
          <a:noFill/>
          <a:ln/>
        </p:spPr>
        <p:txBody>
          <a:bodyPr wrap="square" lIns="0" tIns="0" rIns="0" bIns="0" rtlCol="0" anchor="ctr"/>
          <a:lstStyle/>
          <a:p>
            <a:pPr indent="0" marL="0">
              <a:buNone/>
            </a:pPr>
            <a:r>
              <a:rPr lang="en-US" sz="1800" b="1" dirty="0">
                <a:solidFill>
                  <a:schemeClr val="tx2"/>
                </a:solidFill>
              </a:rPr>
              <a:t>The instrument fails quietly</a:t>
            </a:r>
            <a:endParaRPr lang="en-US" sz="1800" dirty="0"/>
          </a:p>
        </p:txBody>
      </p:sp>
      <p:sp>
        <p:nvSpPr>
          <p:cNvPr id="12" name="Text 8"/>
          <p:cNvSpPr txBox="1"/>
          <p:nvPr/>
        </p:nvSpPr>
        <p:spPr>
          <a:xfrm>
            <a:off x="4769968" y="3657600"/>
            <a:ext cx="2651760" cy="1554480"/>
          </a:xfrm>
          <a:prstGeom prst="rect">
            <a:avLst/>
          </a:prstGeom>
          <a:noFill/>
          <a:ln/>
        </p:spPr>
        <p:txBody>
          <a:bodyPr wrap="square" lIns="0" tIns="0" rIns="0" bIns="0" rtlCol="0" anchor="t"/>
          <a:lstStyle/>
          <a:p>
            <a:pPr indent="0" marL="0">
              <a:buNone/>
            </a:pPr>
            <a:r>
              <a:rPr lang="en-US" sz="1400" dirty="0">
                <a:solidFill>
                  <a:schemeClr val="tx1"/>
                </a:solidFill>
              </a:rPr>
              <a:t>Pores die, a run never starts, output stalls. You find out when you come back, not when it happens.</a:t>
            </a:r>
            <a:endParaRPr lang="en-US" sz="1400" dirty="0"/>
          </a:p>
        </p:txBody>
      </p:sp>
      <p:sp>
        <p:nvSpPr>
          <p:cNvPr id="13" name="Shape 9"/>
          <p:cNvSpPr/>
          <p:nvPr/>
        </p:nvSpPr>
        <p:spPr>
          <a:xfrm>
            <a:off x="8107528" y="1828800"/>
            <a:ext cx="3291840" cy="3566160"/>
          </a:xfrm>
          <a:prstGeom prst="roundRect">
            <a:avLst>
              <a:gd name="adj" fmla="val 2222"/>
            </a:avLst>
          </a:prstGeom>
          <a:solidFill>
            <a:srgbClr val="EEF2EF"/>
          </a:solidFill>
          <a:ln w="12700">
            <a:solidFill>
              <a:srgbClr val="EEF2EF"/>
            </a:solidFill>
            <a:prstDash val="solid"/>
          </a:ln>
        </p:spPr>
      </p:sp>
      <p:sp>
        <p:nvSpPr>
          <p:cNvPr id="14" name="Shape 10"/>
          <p:cNvSpPr/>
          <p:nvPr/>
        </p:nvSpPr>
        <p:spPr>
          <a:xfrm>
            <a:off x="8427568" y="2148840"/>
            <a:ext cx="731520" cy="731520"/>
          </a:xfrm>
          <a:prstGeom prst="ellipse">
            <a:avLst/>
          </a:prstGeom>
          <a:solidFill>
            <a:srgbClr val="FFFFFF"/>
          </a:solidFill>
          <a:ln w="12700">
            <a:solidFill>
              <a:srgbClr val="FFFFFF"/>
            </a:solidFill>
            <a:prstDash val="solid"/>
          </a:ln>
        </p:spPr>
      </p:sp>
      <p:pic>
        <p:nvPicPr>
          <p:cNvPr id="15" name="Image 2" descr="preencoded.png">    </p:cNvPr>
          <p:cNvPicPr>
            <a:picLocks noChangeAspect="1"/>
          </p:cNvPicPr>
          <p:nvPr/>
        </p:nvPicPr>
        <p:blipFill>
          <a:blip r:embed="rId3"/>
          <a:stretch>
            <a:fillRect/>
          </a:stretch>
        </p:blipFill>
        <p:spPr>
          <a:xfrm>
            <a:off x="8583016" y="2304288"/>
            <a:ext cx="420624" cy="420624"/>
          </a:xfrm>
          <a:prstGeom prst="rect">
            <a:avLst/>
          </a:prstGeom>
        </p:spPr>
      </p:pic>
      <p:sp>
        <p:nvSpPr>
          <p:cNvPr id="16" name="Text 11"/>
          <p:cNvSpPr txBox="1"/>
          <p:nvPr/>
        </p:nvSpPr>
        <p:spPr>
          <a:xfrm>
            <a:off x="8427568" y="3108960"/>
            <a:ext cx="2651760" cy="457200"/>
          </a:xfrm>
          <a:prstGeom prst="rect">
            <a:avLst/>
          </a:prstGeom>
          <a:noFill/>
          <a:ln/>
        </p:spPr>
        <p:txBody>
          <a:bodyPr wrap="square" lIns="0" tIns="0" rIns="0" bIns="0" rtlCol="0" anchor="ctr"/>
          <a:lstStyle/>
          <a:p>
            <a:pPr indent="0" marL="0">
              <a:buNone/>
            </a:pPr>
            <a:r>
              <a:rPr lang="en-US" sz="1800" b="1" dirty="0">
                <a:solidFill>
                  <a:schemeClr val="tx2"/>
                </a:solidFill>
              </a:rPr>
              <a:t>The confirmation lives elsewhere</a:t>
            </a:r>
            <a:endParaRPr lang="en-US" sz="1800" dirty="0"/>
          </a:p>
        </p:txBody>
      </p:sp>
      <p:sp>
        <p:nvSpPr>
          <p:cNvPr id="17" name="Text 12"/>
          <p:cNvSpPr txBox="1"/>
          <p:nvPr/>
        </p:nvSpPr>
        <p:spPr>
          <a:xfrm>
            <a:off x="8427568" y="3657600"/>
            <a:ext cx="2651760" cy="1554480"/>
          </a:xfrm>
          <a:prstGeom prst="rect">
            <a:avLst/>
          </a:prstGeom>
          <a:noFill/>
          <a:ln/>
        </p:spPr>
        <p:txBody>
          <a:bodyPr wrap="square" lIns="0" tIns="0" rIns="0" bIns="0" rtlCol="0" anchor="t"/>
          <a:lstStyle/>
          <a:p>
            <a:pPr indent="0" marL="0">
              <a:buNone/>
            </a:pPr>
            <a:r>
              <a:rPr lang="en-US" sz="1400" dirty="0">
                <a:solidFill>
                  <a:schemeClr val="tx1"/>
                </a:solidFill>
              </a:rPr>
              <a:t>The qPCR result is in a spreadsheet. Comparing sequencing with the reference test is redone by hand, every study.</a:t>
            </a:r>
            <a:endParaRPr lang="en-US" sz="1400" dirty="0"/>
          </a:p>
        </p:txBody>
      </p:sp>
      <p:sp>
        <p:nvSpPr>
          <p:cNvPr id="25" name="Slide Number Placeholder 0"/>
          <p:cNvSpPr>
            <a:spLocks noGrp="1"/>
          </p:cNvSpPr>
          <p:nvPr>
            <p:ph type="sldNum" sz="quarter" idx="4294967295"/>
          </p:nvPr>
        </p:nvSpPr>
        <p:spPr>
          <a:xfrm>
            <a:off x="11247120" y="59618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2" type="title" hasCustomPrompt="1"/>
          </p:nvPr>
        </p:nvSpPr>
        <p:spPr>
          <a:xfrm>
            <a:off x="822960" y="777240"/>
            <a:ext cx="10543032" cy="640080"/>
          </a:xfrm>
          <a:prstGeom prst="rect">
            <a:avLst/>
          </a:prstGeom>
          <a:noFill/>
          <a:ln/>
        </p:spPr>
        <p:txBody>
          <a:bodyPr wrap="square" lIns="0" tIns="0" rIns="0" bIns="0" rtlCol="0"/>
          <a:lstStyle/>
          <a:p>
            <a:pPr algn="ctr" indent="0" marL="0">
              <a:buNone/>
            </a:pPr>
            <a:r>
              <a:rPr lang="en-US" sz="2800" b="1" dirty="0">
                <a:solidFill>
                  <a:schemeClr val="tx1"/>
                </a:solidFill>
              </a:rPr>
              <a:t>Good tools already exist. They all stop at the plot</a:t>
            </a:r>
            <a:endParaRPr lang="en-US" sz="2800" dirty="0"/>
          </a:p>
        </p:txBody>
      </p:sp>
      <p:sp>
        <p:nvSpPr>
          <p:cNvPr id="3" name="Text 1"/>
          <p:cNvSpPr txBox="1"/>
          <p:nvPr/>
        </p:nvSpPr>
        <p:spPr>
          <a:xfrm>
            <a:off x="3840480" y="1234440"/>
            <a:ext cx="1600200" cy="548640"/>
          </a:xfrm>
          <a:prstGeom prst="rect">
            <a:avLst/>
          </a:prstGeom>
          <a:noFill/>
          <a:ln/>
        </p:spPr>
        <p:txBody>
          <a:bodyPr wrap="square" lIns="0" tIns="0" rIns="0" bIns="0" rtlCol="0" anchor="b"/>
          <a:lstStyle/>
          <a:p>
            <a:pPr algn="ctr" indent="0" marL="0">
              <a:buNone/>
            </a:pPr>
            <a:r>
              <a:rPr lang="en-US" sz="1200" b="1" dirty="0">
                <a:solidFill>
                  <a:srgbClr val="6B7A82"/>
                </a:solidFill>
              </a:rPr>
              <a:t>Live</a:t>
            </a:r>
            <a:endParaRPr lang="en-US" sz="1200" dirty="0"/>
          </a:p>
          <a:p>
            <a:pPr algn="ctr" indent="0" marL="0">
              <a:buNone/>
            </a:pPr>
            <a:r>
              <a:rPr lang="en-US" sz="1200" b="1" dirty="0">
                <a:solidFill>
                  <a:srgbClr val="6B7A82"/>
                </a:solidFill>
              </a:rPr>
              <a:t>analysis</a:t>
            </a:r>
            <a:endParaRPr lang="en-US" sz="1200" dirty="0"/>
          </a:p>
        </p:txBody>
      </p:sp>
      <p:sp>
        <p:nvSpPr>
          <p:cNvPr id="4" name="Text 2"/>
          <p:cNvSpPr txBox="1"/>
          <p:nvPr/>
        </p:nvSpPr>
        <p:spPr>
          <a:xfrm>
            <a:off x="5440680" y="1234440"/>
            <a:ext cx="1600200" cy="548640"/>
          </a:xfrm>
          <a:prstGeom prst="rect">
            <a:avLst/>
          </a:prstGeom>
          <a:noFill/>
          <a:ln/>
        </p:spPr>
        <p:txBody>
          <a:bodyPr wrap="square" lIns="0" tIns="0" rIns="0" bIns="0" rtlCol="0" anchor="b"/>
          <a:lstStyle/>
          <a:p>
            <a:pPr algn="ctr" indent="0" marL="0">
              <a:buNone/>
            </a:pPr>
            <a:r>
              <a:rPr lang="en-US" sz="1200" b="1" dirty="0">
                <a:solidFill>
                  <a:srgbClr val="6B7A82"/>
                </a:solidFill>
              </a:rPr>
              <a:t>Decide on</a:t>
            </a:r>
            <a:endParaRPr lang="en-US" sz="1200" dirty="0"/>
          </a:p>
          <a:p>
            <a:pPr algn="ctr" indent="0" marL="0">
              <a:buNone/>
            </a:pPr>
            <a:r>
              <a:rPr lang="en-US" sz="1200" b="1" dirty="0">
                <a:solidFill>
                  <a:srgbClr val="6B7A82"/>
                </a:solidFill>
              </a:rPr>
              <a:t>a threshold</a:t>
            </a:r>
            <a:endParaRPr lang="en-US" sz="1200" dirty="0"/>
          </a:p>
        </p:txBody>
      </p:sp>
      <p:sp>
        <p:nvSpPr>
          <p:cNvPr id="5" name="Text 3"/>
          <p:cNvSpPr txBox="1"/>
          <p:nvPr/>
        </p:nvSpPr>
        <p:spPr>
          <a:xfrm>
            <a:off x="7040880" y="1234440"/>
            <a:ext cx="1600200" cy="548640"/>
          </a:xfrm>
          <a:prstGeom prst="rect">
            <a:avLst/>
          </a:prstGeom>
          <a:noFill/>
          <a:ln/>
        </p:spPr>
        <p:txBody>
          <a:bodyPr wrap="square" lIns="0" tIns="0" rIns="0" bIns="0" rtlCol="0" anchor="b"/>
          <a:lstStyle/>
          <a:p>
            <a:pPr algn="ctr" indent="0" marL="0">
              <a:buNone/>
            </a:pPr>
            <a:r>
              <a:rPr lang="en-US" sz="1200" b="1" dirty="0">
                <a:solidFill>
                  <a:srgbClr val="6B7A82"/>
                </a:solidFill>
              </a:rPr>
              <a:t>Notify</a:t>
            </a:r>
            <a:endParaRPr lang="en-US" sz="1200" dirty="0"/>
          </a:p>
          <a:p>
            <a:pPr algn="ctr" indent="0" marL="0">
              <a:buNone/>
            </a:pPr>
            <a:r>
              <a:rPr lang="en-US" sz="1200" b="1" dirty="0">
                <a:solidFill>
                  <a:srgbClr val="6B7A82"/>
                </a:solidFill>
              </a:rPr>
              <a:t>a person</a:t>
            </a:r>
            <a:endParaRPr lang="en-US" sz="1200" dirty="0"/>
          </a:p>
        </p:txBody>
      </p:sp>
      <p:sp>
        <p:nvSpPr>
          <p:cNvPr id="6" name="Text 4"/>
          <p:cNvSpPr txBox="1"/>
          <p:nvPr/>
        </p:nvSpPr>
        <p:spPr>
          <a:xfrm>
            <a:off x="8641080" y="1234440"/>
            <a:ext cx="1600200" cy="548640"/>
          </a:xfrm>
          <a:prstGeom prst="rect">
            <a:avLst/>
          </a:prstGeom>
          <a:noFill/>
          <a:ln/>
        </p:spPr>
        <p:txBody>
          <a:bodyPr wrap="square" lIns="0" tIns="0" rIns="0" bIns="0" rtlCol="0" anchor="b"/>
          <a:lstStyle/>
          <a:p>
            <a:pPr algn="ctr" indent="0" marL="0">
              <a:buNone/>
            </a:pPr>
            <a:r>
              <a:rPr lang="en-US" sz="1200" b="1" dirty="0">
                <a:solidFill>
                  <a:srgbClr val="6B7A82"/>
                </a:solidFill>
              </a:rPr>
              <a:t>Watch the</a:t>
            </a:r>
            <a:endParaRPr lang="en-US" sz="1200" dirty="0"/>
          </a:p>
          <a:p>
            <a:pPr algn="ctr" indent="0" marL="0">
              <a:buNone/>
            </a:pPr>
            <a:r>
              <a:rPr lang="en-US" sz="1200" b="1" dirty="0">
                <a:solidFill>
                  <a:srgbClr val="6B7A82"/>
                </a:solidFill>
              </a:rPr>
              <a:t>instrument</a:t>
            </a:r>
            <a:endParaRPr lang="en-US" sz="1200" dirty="0"/>
          </a:p>
        </p:txBody>
      </p:sp>
      <p:sp>
        <p:nvSpPr>
          <p:cNvPr id="7" name="Text 5"/>
          <p:cNvSpPr txBox="1"/>
          <p:nvPr/>
        </p:nvSpPr>
        <p:spPr>
          <a:xfrm>
            <a:off x="10241280" y="1234440"/>
            <a:ext cx="1600200" cy="548640"/>
          </a:xfrm>
          <a:prstGeom prst="rect">
            <a:avLst/>
          </a:prstGeom>
          <a:noFill/>
          <a:ln/>
        </p:spPr>
        <p:txBody>
          <a:bodyPr wrap="square" lIns="0" tIns="0" rIns="0" bIns="0" rtlCol="0" anchor="b"/>
          <a:lstStyle/>
          <a:p>
            <a:pPr algn="ctr" indent="0" marL="0">
              <a:buNone/>
            </a:pPr>
            <a:r>
              <a:rPr lang="en-US" sz="1200" b="1" dirty="0">
                <a:solidFill>
                  <a:srgbClr val="6B7A82"/>
                </a:solidFill>
              </a:rPr>
              <a:t>Keep the</a:t>
            </a:r>
            <a:endParaRPr lang="en-US" sz="1200" dirty="0"/>
          </a:p>
          <a:p>
            <a:pPr algn="ctr" indent="0" marL="0">
              <a:buNone/>
            </a:pPr>
            <a:r>
              <a:rPr lang="en-US" sz="1200" b="1" dirty="0">
                <a:solidFill>
                  <a:srgbClr val="6B7A82"/>
                </a:solidFill>
              </a:rPr>
              <a:t>qPCR result</a:t>
            </a:r>
            <a:endParaRPr lang="en-US" sz="1200" dirty="0"/>
          </a:p>
        </p:txBody>
      </p:sp>
      <p:sp>
        <p:nvSpPr>
          <p:cNvPr id="8" name="Shape 6"/>
          <p:cNvSpPr/>
          <p:nvPr/>
        </p:nvSpPr>
        <p:spPr>
          <a:xfrm>
            <a:off x="822960" y="1810512"/>
            <a:ext cx="11109960" cy="457200"/>
          </a:xfrm>
          <a:prstGeom prst="rect">
            <a:avLst/>
          </a:prstGeom>
          <a:solidFill>
            <a:srgbClr val="EEF2EF"/>
          </a:solidFill>
          <a:ln w="12700">
            <a:solidFill>
              <a:srgbClr val="EEF2EF"/>
            </a:solidFill>
            <a:prstDash val="solid"/>
          </a:ln>
        </p:spPr>
      </p:sp>
      <p:sp>
        <p:nvSpPr>
          <p:cNvPr id="9" name="Text 7"/>
          <p:cNvSpPr txBox="1"/>
          <p:nvPr/>
        </p:nvSpPr>
        <p:spPr>
          <a:xfrm>
            <a:off x="914400" y="1828800"/>
            <a:ext cx="2926080" cy="420624"/>
          </a:xfrm>
          <a:prstGeom prst="rect">
            <a:avLst/>
          </a:prstGeom>
          <a:noFill/>
          <a:ln/>
        </p:spPr>
        <p:txBody>
          <a:bodyPr wrap="square" lIns="0" tIns="0" rIns="0" bIns="0" rtlCol="0" anchor="ctr"/>
          <a:lstStyle/>
          <a:p>
            <a:pPr indent="0" marL="0">
              <a:buNone/>
            </a:pPr>
            <a:r>
              <a:rPr lang="en-US" sz="1500" dirty="0">
                <a:solidFill>
                  <a:schemeClr val="tx1"/>
                </a:solidFill>
              </a:rPr>
              <a:t>MinKNOW live alignment</a:t>
            </a:r>
            <a:endParaRPr lang="en-US" sz="1500" dirty="0"/>
          </a:p>
        </p:txBody>
      </p:sp>
      <p:sp>
        <p:nvSpPr>
          <p:cNvPr id="10" name="Shape 8"/>
          <p:cNvSpPr/>
          <p:nvPr/>
        </p:nvSpPr>
        <p:spPr>
          <a:xfrm>
            <a:off x="4539996" y="1938528"/>
            <a:ext cx="201168" cy="201168"/>
          </a:xfrm>
          <a:prstGeom prst="ellipse">
            <a:avLst/>
          </a:prstGeom>
          <a:solidFill>
            <a:srgbClr val="1E3E2F"/>
          </a:solidFill>
          <a:ln w="12700">
            <a:solidFill>
              <a:srgbClr val="1E3E2F"/>
            </a:solidFill>
            <a:prstDash val="solid"/>
          </a:ln>
        </p:spPr>
      </p:sp>
      <p:sp>
        <p:nvSpPr>
          <p:cNvPr id="11" name="Shape 9"/>
          <p:cNvSpPr/>
          <p:nvPr/>
        </p:nvSpPr>
        <p:spPr>
          <a:xfrm>
            <a:off x="6195060" y="1993392"/>
            <a:ext cx="91440" cy="91440"/>
          </a:xfrm>
          <a:prstGeom prst="ellipse">
            <a:avLst/>
          </a:prstGeom>
          <a:solidFill>
            <a:srgbClr val="C9D6CD"/>
          </a:solidFill>
          <a:ln w="12700">
            <a:solidFill>
              <a:srgbClr val="C9D6CD"/>
            </a:solidFill>
            <a:prstDash val="solid"/>
          </a:ln>
        </p:spPr>
      </p:sp>
      <p:sp>
        <p:nvSpPr>
          <p:cNvPr id="12" name="Shape 10"/>
          <p:cNvSpPr/>
          <p:nvPr/>
        </p:nvSpPr>
        <p:spPr>
          <a:xfrm>
            <a:off x="7795260" y="1993392"/>
            <a:ext cx="91440" cy="91440"/>
          </a:xfrm>
          <a:prstGeom prst="ellipse">
            <a:avLst/>
          </a:prstGeom>
          <a:solidFill>
            <a:srgbClr val="C9D6CD"/>
          </a:solidFill>
          <a:ln w="12700">
            <a:solidFill>
              <a:srgbClr val="C9D6CD"/>
            </a:solidFill>
            <a:prstDash val="solid"/>
          </a:ln>
        </p:spPr>
      </p:sp>
      <p:sp>
        <p:nvSpPr>
          <p:cNvPr id="13" name="Shape 11"/>
          <p:cNvSpPr/>
          <p:nvPr/>
        </p:nvSpPr>
        <p:spPr>
          <a:xfrm>
            <a:off x="9395460" y="1993392"/>
            <a:ext cx="91440" cy="91440"/>
          </a:xfrm>
          <a:prstGeom prst="ellipse">
            <a:avLst/>
          </a:prstGeom>
          <a:solidFill>
            <a:srgbClr val="C9D6CD"/>
          </a:solidFill>
          <a:ln w="12700">
            <a:solidFill>
              <a:srgbClr val="C9D6CD"/>
            </a:solidFill>
            <a:prstDash val="solid"/>
          </a:ln>
        </p:spPr>
      </p:sp>
      <p:sp>
        <p:nvSpPr>
          <p:cNvPr id="14" name="Shape 12"/>
          <p:cNvSpPr/>
          <p:nvPr/>
        </p:nvSpPr>
        <p:spPr>
          <a:xfrm>
            <a:off x="10995660" y="1993392"/>
            <a:ext cx="91440" cy="91440"/>
          </a:xfrm>
          <a:prstGeom prst="ellipse">
            <a:avLst/>
          </a:prstGeom>
          <a:solidFill>
            <a:srgbClr val="C9D6CD"/>
          </a:solidFill>
          <a:ln w="12700">
            <a:solidFill>
              <a:srgbClr val="C9D6CD"/>
            </a:solidFill>
            <a:prstDash val="solid"/>
          </a:ln>
        </p:spPr>
      </p:sp>
      <p:sp>
        <p:nvSpPr>
          <p:cNvPr id="15" name="Text 13"/>
          <p:cNvSpPr txBox="1"/>
          <p:nvPr/>
        </p:nvSpPr>
        <p:spPr>
          <a:xfrm>
            <a:off x="914400" y="2286000"/>
            <a:ext cx="2926080" cy="420624"/>
          </a:xfrm>
          <a:prstGeom prst="rect">
            <a:avLst/>
          </a:prstGeom>
          <a:noFill/>
          <a:ln/>
        </p:spPr>
        <p:txBody>
          <a:bodyPr wrap="square" lIns="0" tIns="0" rIns="0" bIns="0" rtlCol="0" anchor="ctr"/>
          <a:lstStyle/>
          <a:p>
            <a:pPr indent="0" marL="0">
              <a:buNone/>
            </a:pPr>
            <a:r>
              <a:rPr lang="en-US" sz="1500" dirty="0">
                <a:solidFill>
                  <a:schemeClr val="tx1"/>
                </a:solidFill>
              </a:rPr>
              <a:t>EPI2ME workflows</a:t>
            </a:r>
            <a:endParaRPr lang="en-US" sz="1500" dirty="0"/>
          </a:p>
        </p:txBody>
      </p:sp>
      <p:sp>
        <p:nvSpPr>
          <p:cNvPr id="16" name="Shape 14"/>
          <p:cNvSpPr/>
          <p:nvPr/>
        </p:nvSpPr>
        <p:spPr>
          <a:xfrm>
            <a:off x="4539996" y="2395728"/>
            <a:ext cx="201168" cy="201168"/>
          </a:xfrm>
          <a:prstGeom prst="ellipse">
            <a:avLst/>
          </a:prstGeom>
          <a:solidFill>
            <a:srgbClr val="1E3E2F"/>
          </a:solidFill>
          <a:ln w="12700">
            <a:solidFill>
              <a:srgbClr val="1E3E2F"/>
            </a:solidFill>
            <a:prstDash val="solid"/>
          </a:ln>
        </p:spPr>
      </p:sp>
      <p:sp>
        <p:nvSpPr>
          <p:cNvPr id="17" name="Shape 15"/>
          <p:cNvSpPr/>
          <p:nvPr/>
        </p:nvSpPr>
        <p:spPr>
          <a:xfrm>
            <a:off x="6195060" y="2450592"/>
            <a:ext cx="91440" cy="91440"/>
          </a:xfrm>
          <a:prstGeom prst="ellipse">
            <a:avLst/>
          </a:prstGeom>
          <a:solidFill>
            <a:srgbClr val="C9D6CD"/>
          </a:solidFill>
          <a:ln w="12700">
            <a:solidFill>
              <a:srgbClr val="C9D6CD"/>
            </a:solidFill>
            <a:prstDash val="solid"/>
          </a:ln>
        </p:spPr>
      </p:sp>
      <p:sp>
        <p:nvSpPr>
          <p:cNvPr id="18" name="Shape 16"/>
          <p:cNvSpPr/>
          <p:nvPr/>
        </p:nvSpPr>
        <p:spPr>
          <a:xfrm>
            <a:off x="7795260" y="2450592"/>
            <a:ext cx="91440" cy="91440"/>
          </a:xfrm>
          <a:prstGeom prst="ellipse">
            <a:avLst/>
          </a:prstGeom>
          <a:solidFill>
            <a:srgbClr val="C9D6CD"/>
          </a:solidFill>
          <a:ln w="12700">
            <a:solidFill>
              <a:srgbClr val="C9D6CD"/>
            </a:solidFill>
            <a:prstDash val="solid"/>
          </a:ln>
        </p:spPr>
      </p:sp>
      <p:sp>
        <p:nvSpPr>
          <p:cNvPr id="19" name="Shape 17"/>
          <p:cNvSpPr/>
          <p:nvPr/>
        </p:nvSpPr>
        <p:spPr>
          <a:xfrm>
            <a:off x="9395460" y="2450592"/>
            <a:ext cx="91440" cy="91440"/>
          </a:xfrm>
          <a:prstGeom prst="ellipse">
            <a:avLst/>
          </a:prstGeom>
          <a:solidFill>
            <a:srgbClr val="C9D6CD"/>
          </a:solidFill>
          <a:ln w="12700">
            <a:solidFill>
              <a:srgbClr val="C9D6CD"/>
            </a:solidFill>
            <a:prstDash val="solid"/>
          </a:ln>
        </p:spPr>
      </p:sp>
      <p:sp>
        <p:nvSpPr>
          <p:cNvPr id="20" name="Shape 18"/>
          <p:cNvSpPr/>
          <p:nvPr/>
        </p:nvSpPr>
        <p:spPr>
          <a:xfrm>
            <a:off x="10995660" y="2450592"/>
            <a:ext cx="91440" cy="91440"/>
          </a:xfrm>
          <a:prstGeom prst="ellipse">
            <a:avLst/>
          </a:prstGeom>
          <a:solidFill>
            <a:srgbClr val="C9D6CD"/>
          </a:solidFill>
          <a:ln w="12700">
            <a:solidFill>
              <a:srgbClr val="C9D6CD"/>
            </a:solidFill>
            <a:prstDash val="solid"/>
          </a:ln>
        </p:spPr>
      </p:sp>
      <p:sp>
        <p:nvSpPr>
          <p:cNvPr id="21" name="Shape 19"/>
          <p:cNvSpPr/>
          <p:nvPr/>
        </p:nvSpPr>
        <p:spPr>
          <a:xfrm>
            <a:off x="822960" y="2724912"/>
            <a:ext cx="11109960" cy="457200"/>
          </a:xfrm>
          <a:prstGeom prst="rect">
            <a:avLst/>
          </a:prstGeom>
          <a:solidFill>
            <a:srgbClr val="EEF2EF"/>
          </a:solidFill>
          <a:ln w="12700">
            <a:solidFill>
              <a:srgbClr val="EEF2EF"/>
            </a:solidFill>
            <a:prstDash val="solid"/>
          </a:ln>
        </p:spPr>
      </p:sp>
      <p:sp>
        <p:nvSpPr>
          <p:cNvPr id="22" name="Text 20"/>
          <p:cNvSpPr txBox="1"/>
          <p:nvPr/>
        </p:nvSpPr>
        <p:spPr>
          <a:xfrm>
            <a:off x="914400" y="2743200"/>
            <a:ext cx="2926080" cy="420624"/>
          </a:xfrm>
          <a:prstGeom prst="rect">
            <a:avLst/>
          </a:prstGeom>
          <a:noFill/>
          <a:ln/>
        </p:spPr>
        <p:txBody>
          <a:bodyPr wrap="square" lIns="0" tIns="0" rIns="0" bIns="0" rtlCol="0" anchor="ctr"/>
          <a:lstStyle/>
          <a:p>
            <a:pPr indent="0" marL="0">
              <a:buNone/>
            </a:pPr>
            <a:r>
              <a:rPr lang="en-US" sz="1500" dirty="0">
                <a:solidFill>
                  <a:schemeClr val="tx1"/>
                </a:solidFill>
              </a:rPr>
              <a:t>RAMPART</a:t>
            </a:r>
            <a:endParaRPr lang="en-US" sz="1500" dirty="0"/>
          </a:p>
        </p:txBody>
      </p:sp>
      <p:sp>
        <p:nvSpPr>
          <p:cNvPr id="23" name="Shape 21"/>
          <p:cNvSpPr/>
          <p:nvPr/>
        </p:nvSpPr>
        <p:spPr>
          <a:xfrm>
            <a:off x="4539996" y="2852928"/>
            <a:ext cx="201168" cy="201168"/>
          </a:xfrm>
          <a:prstGeom prst="ellipse">
            <a:avLst/>
          </a:prstGeom>
          <a:solidFill>
            <a:srgbClr val="1E3E2F"/>
          </a:solidFill>
          <a:ln w="12700">
            <a:solidFill>
              <a:srgbClr val="1E3E2F"/>
            </a:solidFill>
            <a:prstDash val="solid"/>
          </a:ln>
        </p:spPr>
      </p:sp>
      <p:sp>
        <p:nvSpPr>
          <p:cNvPr id="24" name="Shape 22"/>
          <p:cNvSpPr/>
          <p:nvPr/>
        </p:nvSpPr>
        <p:spPr>
          <a:xfrm>
            <a:off x="6195060" y="2907792"/>
            <a:ext cx="91440" cy="91440"/>
          </a:xfrm>
          <a:prstGeom prst="ellipse">
            <a:avLst/>
          </a:prstGeom>
          <a:solidFill>
            <a:srgbClr val="C9D6CD"/>
          </a:solidFill>
          <a:ln w="12700">
            <a:solidFill>
              <a:srgbClr val="C9D6CD"/>
            </a:solidFill>
            <a:prstDash val="solid"/>
          </a:ln>
        </p:spPr>
      </p:sp>
      <p:sp>
        <p:nvSpPr>
          <p:cNvPr id="25" name="Shape 23"/>
          <p:cNvSpPr/>
          <p:nvPr/>
        </p:nvSpPr>
        <p:spPr>
          <a:xfrm>
            <a:off x="7795260" y="2907792"/>
            <a:ext cx="91440" cy="91440"/>
          </a:xfrm>
          <a:prstGeom prst="ellipse">
            <a:avLst/>
          </a:prstGeom>
          <a:solidFill>
            <a:srgbClr val="C9D6CD"/>
          </a:solidFill>
          <a:ln w="12700">
            <a:solidFill>
              <a:srgbClr val="C9D6CD"/>
            </a:solidFill>
            <a:prstDash val="solid"/>
          </a:ln>
        </p:spPr>
      </p:sp>
      <p:sp>
        <p:nvSpPr>
          <p:cNvPr id="26" name="Shape 24"/>
          <p:cNvSpPr/>
          <p:nvPr/>
        </p:nvSpPr>
        <p:spPr>
          <a:xfrm>
            <a:off x="9395460" y="2907792"/>
            <a:ext cx="91440" cy="91440"/>
          </a:xfrm>
          <a:prstGeom prst="ellipse">
            <a:avLst/>
          </a:prstGeom>
          <a:solidFill>
            <a:srgbClr val="C9D6CD"/>
          </a:solidFill>
          <a:ln w="12700">
            <a:solidFill>
              <a:srgbClr val="C9D6CD"/>
            </a:solidFill>
            <a:prstDash val="solid"/>
          </a:ln>
        </p:spPr>
      </p:sp>
      <p:sp>
        <p:nvSpPr>
          <p:cNvPr id="27" name="Shape 25"/>
          <p:cNvSpPr/>
          <p:nvPr/>
        </p:nvSpPr>
        <p:spPr>
          <a:xfrm>
            <a:off x="10995660" y="2907792"/>
            <a:ext cx="91440" cy="91440"/>
          </a:xfrm>
          <a:prstGeom prst="ellipse">
            <a:avLst/>
          </a:prstGeom>
          <a:solidFill>
            <a:srgbClr val="C9D6CD"/>
          </a:solidFill>
          <a:ln w="12700">
            <a:solidFill>
              <a:srgbClr val="C9D6CD"/>
            </a:solidFill>
            <a:prstDash val="solid"/>
          </a:ln>
        </p:spPr>
      </p:sp>
      <p:sp>
        <p:nvSpPr>
          <p:cNvPr id="28" name="Text 26"/>
          <p:cNvSpPr txBox="1"/>
          <p:nvPr/>
        </p:nvSpPr>
        <p:spPr>
          <a:xfrm>
            <a:off x="914400" y="3200400"/>
            <a:ext cx="2926080" cy="420624"/>
          </a:xfrm>
          <a:prstGeom prst="rect">
            <a:avLst/>
          </a:prstGeom>
          <a:noFill/>
          <a:ln/>
        </p:spPr>
        <p:txBody>
          <a:bodyPr wrap="square" lIns="0" tIns="0" rIns="0" bIns="0" rtlCol="0" anchor="ctr"/>
          <a:lstStyle/>
          <a:p>
            <a:pPr indent="0" marL="0">
              <a:buNone/>
            </a:pPr>
            <a:r>
              <a:rPr lang="en-US" sz="1500" dirty="0">
                <a:solidFill>
                  <a:schemeClr val="tx1"/>
                </a:solidFill>
              </a:rPr>
              <a:t>minoTour</a:t>
            </a:r>
            <a:endParaRPr lang="en-US" sz="1500" dirty="0"/>
          </a:p>
        </p:txBody>
      </p:sp>
      <p:sp>
        <p:nvSpPr>
          <p:cNvPr id="29" name="Shape 27"/>
          <p:cNvSpPr/>
          <p:nvPr/>
        </p:nvSpPr>
        <p:spPr>
          <a:xfrm>
            <a:off x="4539996" y="3310128"/>
            <a:ext cx="201168" cy="201168"/>
          </a:xfrm>
          <a:prstGeom prst="ellipse">
            <a:avLst/>
          </a:prstGeom>
          <a:solidFill>
            <a:srgbClr val="1E3E2F"/>
          </a:solidFill>
          <a:ln w="12700">
            <a:solidFill>
              <a:srgbClr val="1E3E2F"/>
            </a:solidFill>
            <a:prstDash val="solid"/>
          </a:ln>
        </p:spPr>
      </p:sp>
      <p:sp>
        <p:nvSpPr>
          <p:cNvPr id="30" name="Shape 28"/>
          <p:cNvSpPr/>
          <p:nvPr/>
        </p:nvSpPr>
        <p:spPr>
          <a:xfrm>
            <a:off x="6195060" y="3364992"/>
            <a:ext cx="91440" cy="91440"/>
          </a:xfrm>
          <a:prstGeom prst="ellipse">
            <a:avLst/>
          </a:prstGeom>
          <a:solidFill>
            <a:srgbClr val="C9D6CD"/>
          </a:solidFill>
          <a:ln w="12700">
            <a:solidFill>
              <a:srgbClr val="C9D6CD"/>
            </a:solidFill>
            <a:prstDash val="solid"/>
          </a:ln>
        </p:spPr>
      </p:sp>
      <p:sp>
        <p:nvSpPr>
          <p:cNvPr id="31" name="Shape 29"/>
          <p:cNvSpPr/>
          <p:nvPr/>
        </p:nvSpPr>
        <p:spPr>
          <a:xfrm>
            <a:off x="7740396" y="3310128"/>
            <a:ext cx="201168" cy="201168"/>
          </a:xfrm>
          <a:prstGeom prst="ellipse">
            <a:avLst/>
          </a:prstGeom>
          <a:solidFill>
            <a:srgbClr val="FFFFFF"/>
          </a:solidFill>
          <a:ln w="19050">
            <a:solidFill>
              <a:srgbClr val="1E3E2F"/>
            </a:solidFill>
            <a:prstDash val="solid"/>
          </a:ln>
        </p:spPr>
      </p:sp>
      <p:sp>
        <p:nvSpPr>
          <p:cNvPr id="32" name="Shape 30"/>
          <p:cNvSpPr/>
          <p:nvPr/>
        </p:nvSpPr>
        <p:spPr>
          <a:xfrm>
            <a:off x="9340596" y="3310128"/>
            <a:ext cx="201168" cy="201168"/>
          </a:xfrm>
          <a:prstGeom prst="ellipse">
            <a:avLst/>
          </a:prstGeom>
          <a:solidFill>
            <a:srgbClr val="FFFFFF"/>
          </a:solidFill>
          <a:ln w="19050">
            <a:solidFill>
              <a:srgbClr val="1E3E2F"/>
            </a:solidFill>
            <a:prstDash val="solid"/>
          </a:ln>
        </p:spPr>
      </p:sp>
      <p:sp>
        <p:nvSpPr>
          <p:cNvPr id="33" name="Shape 31"/>
          <p:cNvSpPr/>
          <p:nvPr/>
        </p:nvSpPr>
        <p:spPr>
          <a:xfrm>
            <a:off x="10995660" y="3364992"/>
            <a:ext cx="91440" cy="91440"/>
          </a:xfrm>
          <a:prstGeom prst="ellipse">
            <a:avLst/>
          </a:prstGeom>
          <a:solidFill>
            <a:srgbClr val="C9D6CD"/>
          </a:solidFill>
          <a:ln w="12700">
            <a:solidFill>
              <a:srgbClr val="C9D6CD"/>
            </a:solidFill>
            <a:prstDash val="solid"/>
          </a:ln>
        </p:spPr>
      </p:sp>
      <p:sp>
        <p:nvSpPr>
          <p:cNvPr id="34" name="Shape 32"/>
          <p:cNvSpPr/>
          <p:nvPr/>
        </p:nvSpPr>
        <p:spPr>
          <a:xfrm>
            <a:off x="822960" y="3639312"/>
            <a:ext cx="11109960" cy="457200"/>
          </a:xfrm>
          <a:prstGeom prst="rect">
            <a:avLst/>
          </a:prstGeom>
          <a:solidFill>
            <a:srgbClr val="EEF2EF"/>
          </a:solidFill>
          <a:ln w="12700">
            <a:solidFill>
              <a:srgbClr val="EEF2EF"/>
            </a:solidFill>
            <a:prstDash val="solid"/>
          </a:ln>
        </p:spPr>
      </p:sp>
      <p:sp>
        <p:nvSpPr>
          <p:cNvPr id="35" name="Text 33"/>
          <p:cNvSpPr txBox="1"/>
          <p:nvPr/>
        </p:nvSpPr>
        <p:spPr>
          <a:xfrm>
            <a:off x="914400" y="3657600"/>
            <a:ext cx="2926080" cy="420624"/>
          </a:xfrm>
          <a:prstGeom prst="rect">
            <a:avLst/>
          </a:prstGeom>
          <a:noFill/>
          <a:ln/>
        </p:spPr>
        <p:txBody>
          <a:bodyPr wrap="square" lIns="0" tIns="0" rIns="0" bIns="0" rtlCol="0" anchor="ctr"/>
          <a:lstStyle/>
          <a:p>
            <a:pPr indent="0" marL="0">
              <a:buNone/>
            </a:pPr>
            <a:r>
              <a:rPr lang="en-US" sz="1500" dirty="0">
                <a:solidFill>
                  <a:schemeClr val="tx1"/>
                </a:solidFill>
              </a:rPr>
              <a:t>MARTi</a:t>
            </a:r>
            <a:endParaRPr lang="en-US" sz="1500" dirty="0"/>
          </a:p>
        </p:txBody>
      </p:sp>
      <p:sp>
        <p:nvSpPr>
          <p:cNvPr id="36" name="Shape 34"/>
          <p:cNvSpPr/>
          <p:nvPr/>
        </p:nvSpPr>
        <p:spPr>
          <a:xfrm>
            <a:off x="4539996" y="3767328"/>
            <a:ext cx="201168" cy="201168"/>
          </a:xfrm>
          <a:prstGeom prst="ellipse">
            <a:avLst/>
          </a:prstGeom>
          <a:solidFill>
            <a:srgbClr val="1E3E2F"/>
          </a:solidFill>
          <a:ln w="12700">
            <a:solidFill>
              <a:srgbClr val="1E3E2F"/>
            </a:solidFill>
            <a:prstDash val="solid"/>
          </a:ln>
        </p:spPr>
      </p:sp>
      <p:sp>
        <p:nvSpPr>
          <p:cNvPr id="37" name="Shape 35"/>
          <p:cNvSpPr/>
          <p:nvPr/>
        </p:nvSpPr>
        <p:spPr>
          <a:xfrm>
            <a:off x="6195060" y="3822192"/>
            <a:ext cx="91440" cy="91440"/>
          </a:xfrm>
          <a:prstGeom prst="ellipse">
            <a:avLst/>
          </a:prstGeom>
          <a:solidFill>
            <a:srgbClr val="C9D6CD"/>
          </a:solidFill>
          <a:ln w="12700">
            <a:solidFill>
              <a:srgbClr val="C9D6CD"/>
            </a:solidFill>
            <a:prstDash val="solid"/>
          </a:ln>
        </p:spPr>
      </p:sp>
      <p:sp>
        <p:nvSpPr>
          <p:cNvPr id="38" name="Shape 36"/>
          <p:cNvSpPr/>
          <p:nvPr/>
        </p:nvSpPr>
        <p:spPr>
          <a:xfrm>
            <a:off x="7795260" y="3822192"/>
            <a:ext cx="91440" cy="91440"/>
          </a:xfrm>
          <a:prstGeom prst="ellipse">
            <a:avLst/>
          </a:prstGeom>
          <a:solidFill>
            <a:srgbClr val="C9D6CD"/>
          </a:solidFill>
          <a:ln w="12700">
            <a:solidFill>
              <a:srgbClr val="C9D6CD"/>
            </a:solidFill>
            <a:prstDash val="solid"/>
          </a:ln>
        </p:spPr>
      </p:sp>
      <p:sp>
        <p:nvSpPr>
          <p:cNvPr id="39" name="Shape 37"/>
          <p:cNvSpPr/>
          <p:nvPr/>
        </p:nvSpPr>
        <p:spPr>
          <a:xfrm>
            <a:off x="9395460" y="3822192"/>
            <a:ext cx="91440" cy="91440"/>
          </a:xfrm>
          <a:prstGeom prst="ellipse">
            <a:avLst/>
          </a:prstGeom>
          <a:solidFill>
            <a:srgbClr val="C9D6CD"/>
          </a:solidFill>
          <a:ln w="12700">
            <a:solidFill>
              <a:srgbClr val="C9D6CD"/>
            </a:solidFill>
            <a:prstDash val="solid"/>
          </a:ln>
        </p:spPr>
      </p:sp>
      <p:sp>
        <p:nvSpPr>
          <p:cNvPr id="40" name="Shape 38"/>
          <p:cNvSpPr/>
          <p:nvPr/>
        </p:nvSpPr>
        <p:spPr>
          <a:xfrm>
            <a:off x="10995660" y="3822192"/>
            <a:ext cx="91440" cy="91440"/>
          </a:xfrm>
          <a:prstGeom prst="ellipse">
            <a:avLst/>
          </a:prstGeom>
          <a:solidFill>
            <a:srgbClr val="C9D6CD"/>
          </a:solidFill>
          <a:ln w="12700">
            <a:solidFill>
              <a:srgbClr val="C9D6CD"/>
            </a:solidFill>
            <a:prstDash val="solid"/>
          </a:ln>
        </p:spPr>
      </p:sp>
      <p:sp>
        <p:nvSpPr>
          <p:cNvPr id="41" name="Text 39"/>
          <p:cNvSpPr txBox="1"/>
          <p:nvPr/>
        </p:nvSpPr>
        <p:spPr>
          <a:xfrm>
            <a:off x="914400" y="4114800"/>
            <a:ext cx="2926080" cy="420624"/>
          </a:xfrm>
          <a:prstGeom prst="rect">
            <a:avLst/>
          </a:prstGeom>
          <a:noFill/>
          <a:ln/>
        </p:spPr>
        <p:txBody>
          <a:bodyPr wrap="square" lIns="0" tIns="0" rIns="0" bIns="0" rtlCol="0" anchor="ctr"/>
          <a:lstStyle/>
          <a:p>
            <a:pPr indent="0" marL="0">
              <a:buNone/>
            </a:pPr>
            <a:r>
              <a:rPr lang="en-US" sz="1500" dirty="0">
                <a:solidFill>
                  <a:schemeClr val="tx1"/>
                </a:solidFill>
              </a:rPr>
              <a:t>Nanometa Live</a:t>
            </a:r>
            <a:endParaRPr lang="en-US" sz="1500" dirty="0"/>
          </a:p>
        </p:txBody>
      </p:sp>
      <p:sp>
        <p:nvSpPr>
          <p:cNvPr id="42" name="Shape 40"/>
          <p:cNvSpPr/>
          <p:nvPr/>
        </p:nvSpPr>
        <p:spPr>
          <a:xfrm>
            <a:off x="4539996" y="4224528"/>
            <a:ext cx="201168" cy="201168"/>
          </a:xfrm>
          <a:prstGeom prst="ellipse">
            <a:avLst/>
          </a:prstGeom>
          <a:solidFill>
            <a:srgbClr val="1E3E2F"/>
          </a:solidFill>
          <a:ln w="12700">
            <a:solidFill>
              <a:srgbClr val="1E3E2F"/>
            </a:solidFill>
            <a:prstDash val="solid"/>
          </a:ln>
        </p:spPr>
      </p:sp>
      <p:sp>
        <p:nvSpPr>
          <p:cNvPr id="43" name="Shape 41"/>
          <p:cNvSpPr/>
          <p:nvPr/>
        </p:nvSpPr>
        <p:spPr>
          <a:xfrm>
            <a:off x="6140196" y="4224528"/>
            <a:ext cx="201168" cy="201168"/>
          </a:xfrm>
          <a:prstGeom prst="ellipse">
            <a:avLst/>
          </a:prstGeom>
          <a:solidFill>
            <a:srgbClr val="FFFFFF"/>
          </a:solidFill>
          <a:ln w="19050">
            <a:solidFill>
              <a:srgbClr val="1E3E2F"/>
            </a:solidFill>
            <a:prstDash val="solid"/>
          </a:ln>
        </p:spPr>
      </p:sp>
      <p:sp>
        <p:nvSpPr>
          <p:cNvPr id="44" name="Shape 42"/>
          <p:cNvSpPr/>
          <p:nvPr/>
        </p:nvSpPr>
        <p:spPr>
          <a:xfrm>
            <a:off x="7795260" y="4279392"/>
            <a:ext cx="91440" cy="91440"/>
          </a:xfrm>
          <a:prstGeom prst="ellipse">
            <a:avLst/>
          </a:prstGeom>
          <a:solidFill>
            <a:srgbClr val="C9D6CD"/>
          </a:solidFill>
          <a:ln w="12700">
            <a:solidFill>
              <a:srgbClr val="C9D6CD"/>
            </a:solidFill>
            <a:prstDash val="solid"/>
          </a:ln>
        </p:spPr>
      </p:sp>
      <p:sp>
        <p:nvSpPr>
          <p:cNvPr id="45" name="Shape 43"/>
          <p:cNvSpPr/>
          <p:nvPr/>
        </p:nvSpPr>
        <p:spPr>
          <a:xfrm>
            <a:off x="9395460" y="4279392"/>
            <a:ext cx="91440" cy="91440"/>
          </a:xfrm>
          <a:prstGeom prst="ellipse">
            <a:avLst/>
          </a:prstGeom>
          <a:solidFill>
            <a:srgbClr val="C9D6CD"/>
          </a:solidFill>
          <a:ln w="12700">
            <a:solidFill>
              <a:srgbClr val="C9D6CD"/>
            </a:solidFill>
            <a:prstDash val="solid"/>
          </a:ln>
        </p:spPr>
      </p:sp>
      <p:sp>
        <p:nvSpPr>
          <p:cNvPr id="46" name="Shape 44"/>
          <p:cNvSpPr/>
          <p:nvPr/>
        </p:nvSpPr>
        <p:spPr>
          <a:xfrm>
            <a:off x="10995660" y="4279392"/>
            <a:ext cx="91440" cy="91440"/>
          </a:xfrm>
          <a:prstGeom prst="ellipse">
            <a:avLst/>
          </a:prstGeom>
          <a:solidFill>
            <a:srgbClr val="C9D6CD"/>
          </a:solidFill>
          <a:ln w="12700">
            <a:solidFill>
              <a:srgbClr val="C9D6CD"/>
            </a:solidFill>
            <a:prstDash val="solid"/>
          </a:ln>
        </p:spPr>
      </p:sp>
      <p:sp>
        <p:nvSpPr>
          <p:cNvPr id="47" name="Shape 45"/>
          <p:cNvSpPr/>
          <p:nvPr/>
        </p:nvSpPr>
        <p:spPr>
          <a:xfrm>
            <a:off x="914400" y="4892040"/>
            <a:ext cx="182880" cy="182880"/>
          </a:xfrm>
          <a:prstGeom prst="ellipse">
            <a:avLst/>
          </a:prstGeom>
          <a:solidFill>
            <a:srgbClr val="1E3E2F"/>
          </a:solidFill>
          <a:ln w="12700">
            <a:solidFill>
              <a:srgbClr val="1E3E2F"/>
            </a:solidFill>
            <a:prstDash val="solid"/>
          </a:ln>
        </p:spPr>
      </p:sp>
      <p:sp>
        <p:nvSpPr>
          <p:cNvPr id="48" name="Text 46"/>
          <p:cNvSpPr txBox="1"/>
          <p:nvPr/>
        </p:nvSpPr>
        <p:spPr>
          <a:xfrm>
            <a:off x="1188720" y="4846320"/>
            <a:ext cx="731520" cy="274320"/>
          </a:xfrm>
          <a:prstGeom prst="rect">
            <a:avLst/>
          </a:prstGeom>
          <a:noFill/>
          <a:ln/>
        </p:spPr>
        <p:txBody>
          <a:bodyPr wrap="square" lIns="0" tIns="0" rIns="0" bIns="0" rtlCol="0" anchor="ctr"/>
          <a:lstStyle/>
          <a:p>
            <a:pPr indent="0" marL="0">
              <a:buNone/>
            </a:pPr>
            <a:r>
              <a:rPr lang="en-US" sz="1200" dirty="0">
                <a:solidFill>
                  <a:srgbClr val="6B7A82"/>
                </a:solidFill>
              </a:rPr>
              <a:t>yes</a:t>
            </a:r>
            <a:endParaRPr lang="en-US" sz="1200" dirty="0"/>
          </a:p>
        </p:txBody>
      </p:sp>
      <p:sp>
        <p:nvSpPr>
          <p:cNvPr id="49" name="Shape 47"/>
          <p:cNvSpPr/>
          <p:nvPr/>
        </p:nvSpPr>
        <p:spPr>
          <a:xfrm>
            <a:off x="1920240" y="4892040"/>
            <a:ext cx="182880" cy="182880"/>
          </a:xfrm>
          <a:prstGeom prst="ellipse">
            <a:avLst/>
          </a:prstGeom>
          <a:solidFill>
            <a:srgbClr val="FFFFFF"/>
          </a:solidFill>
          <a:ln w="19050">
            <a:solidFill>
              <a:srgbClr val="1E3E2F"/>
            </a:solidFill>
            <a:prstDash val="solid"/>
          </a:ln>
        </p:spPr>
      </p:sp>
      <p:sp>
        <p:nvSpPr>
          <p:cNvPr id="50" name="Text 48"/>
          <p:cNvSpPr txBox="1"/>
          <p:nvPr/>
        </p:nvSpPr>
        <p:spPr>
          <a:xfrm>
            <a:off x="2194560" y="4846320"/>
            <a:ext cx="4114800" cy="274320"/>
          </a:xfrm>
          <a:prstGeom prst="rect">
            <a:avLst/>
          </a:prstGeom>
          <a:noFill/>
          <a:ln/>
        </p:spPr>
        <p:txBody>
          <a:bodyPr wrap="square" lIns="0" tIns="0" rIns="0" bIns="0" rtlCol="0" anchor="ctr"/>
          <a:lstStyle/>
          <a:p>
            <a:pPr indent="0" marL="0">
              <a:buNone/>
            </a:pPr>
            <a:r>
              <a:rPr lang="en-US" sz="1200" dirty="0">
                <a:solidFill>
                  <a:srgbClr val="6B7A82"/>
                </a:solidFill>
              </a:rPr>
              <a:t>partly (ARTIC milestones, listed pathogens)</a:t>
            </a:r>
            <a:endParaRPr lang="en-US" sz="1200" dirty="0"/>
          </a:p>
        </p:txBody>
      </p:sp>
      <p:sp>
        <p:nvSpPr>
          <p:cNvPr id="51" name="Text 49"/>
          <p:cNvSpPr txBox="1"/>
          <p:nvPr/>
        </p:nvSpPr>
        <p:spPr>
          <a:xfrm>
            <a:off x="914400" y="5303520"/>
            <a:ext cx="10058400" cy="320040"/>
          </a:xfrm>
          <a:prstGeom prst="rect">
            <a:avLst/>
          </a:prstGeom>
          <a:noFill/>
          <a:ln/>
        </p:spPr>
        <p:txBody>
          <a:bodyPr wrap="square" lIns="0" tIns="0" rIns="0" bIns="0" rtlCol="0" anchor="ctr"/>
          <a:lstStyle/>
          <a:p>
            <a:pPr indent="0" marL="0">
              <a:buNone/>
            </a:pPr>
            <a:r>
              <a:rPr lang="en-US" sz="1200" dirty="0">
                <a:solidFill>
                  <a:srgbClr val="6B7A82"/>
                </a:solidFill>
              </a:rPr>
              <a:t>From the published descriptions of each tool, 2021 to 2025. Any of these can be the classifier underneath what comes next.</a:t>
            </a:r>
            <a:endParaRPr lang="en-US" sz="1200" dirty="0"/>
          </a:p>
        </p:txBody>
      </p:sp>
      <p:sp>
        <p:nvSpPr>
          <p:cNvPr id="25" name="Slide Number Placeholder 0"/>
          <p:cNvSpPr>
            <a:spLocks noGrp="1"/>
          </p:cNvSpPr>
          <p:nvPr>
            <p:ph type="sldNum" sz="quarter" idx="4294967295"/>
          </p:nvPr>
        </p:nvSpPr>
        <p:spPr>
          <a:xfrm>
            <a:off x="11247120" y="59618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2" type="title" hasCustomPrompt="1"/>
          </p:nvPr>
        </p:nvSpPr>
        <p:spPr>
          <a:xfrm>
            <a:off x="822960" y="2194560"/>
            <a:ext cx="10543032" cy="1463040"/>
          </a:xfrm>
          <a:prstGeom prst="rect">
            <a:avLst/>
          </a:prstGeom>
          <a:noFill/>
          <a:ln/>
        </p:spPr>
        <p:txBody>
          <a:bodyPr wrap="square" lIns="0" tIns="0" rIns="0" bIns="0" rtlCol="0" anchor="ctr"/>
          <a:lstStyle/>
          <a:p>
            <a:pPr algn="ctr" indent="0" marL="0">
              <a:buNone/>
            </a:pPr>
            <a:r>
              <a:rPr lang="en-US" sz="3200" b="1" dirty="0">
                <a:solidFill>
                  <a:schemeClr val="tx1"/>
                </a:solidFill>
              </a:rPr>
              <a:t>So we did not build another classifier.</a:t>
            </a:r>
            <a:endParaRPr lang="en-US" sz="3200" dirty="0"/>
          </a:p>
          <a:p>
            <a:pPr algn="ctr" indent="0" marL="0">
              <a:buNone/>
            </a:pPr>
            <a:r>
              <a:rPr lang="en-US" sz="3200" b="1" dirty="0">
                <a:solidFill>
                  <a:schemeClr val="tx1"/>
                </a:solidFill>
              </a:rPr>
              <a:t>We built the layer that decides, and tells you.</a:t>
            </a:r>
            <a:endParaRPr lang="en-US" sz="3200" dirty="0"/>
          </a:p>
        </p:txBody>
      </p:sp>
      <p:sp>
        <p:nvSpPr>
          <p:cNvPr id="3" name="Text 0"/>
          <p:cNvSpPr/>
          <p:nvPr>
            <p:ph idx="103" type="body" hasCustomPrompt="1"/>
          </p:nvPr>
        </p:nvSpPr>
        <p:spPr>
          <a:xfrm>
            <a:off x="1828800" y="3794760"/>
            <a:ext cx="8531352" cy="822960"/>
          </a:xfrm>
          <a:prstGeom prst="rect">
            <a:avLst/>
          </a:prstGeom>
          <a:noFill/>
          <a:ln/>
        </p:spPr>
        <p:txBody>
          <a:bodyPr wrap="square" lIns="0" tIns="0" rIns="0" bIns="0" rtlCol="0" anchor="t"/>
          <a:lstStyle/>
          <a:p>
            <a:pPr algn="ctr" indent="0" marL="0">
              <a:buNone/>
            </a:pPr>
            <a:r>
              <a:rPr lang="en-US" sz="2000" dirty="0">
                <a:solidFill>
                  <a:schemeClr val="tx2"/>
                </a:solidFill>
              </a:rPr>
              <a:t>nanoCAS: Nanopore Classification and Alerting System</a:t>
            </a:r>
            <a:endParaRPr lang="en-US" sz="2000" dirty="0"/>
          </a:p>
        </p:txBody>
      </p:sp>
      <p:sp>
        <p:nvSpPr>
          <p:cNvPr id="25" name="Slide Number Placeholder 0"/>
          <p:cNvSpPr>
            <a:spLocks noGrp="1"/>
          </p:cNvSpPr>
          <p:nvPr>
            <p:ph type="sldNum" sz="quarter" idx="4294967295"/>
          </p:nvPr>
        </p:nvSpPr>
        <p:spPr>
          <a:xfrm>
            <a:off x="11247120" y="59618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2" type="title" hasCustomPrompt="1"/>
          </p:nvPr>
        </p:nvSpPr>
        <p:spPr>
          <a:xfrm>
            <a:off x="822960" y="777240"/>
            <a:ext cx="10543032" cy="640080"/>
          </a:xfrm>
          <a:prstGeom prst="rect">
            <a:avLst/>
          </a:prstGeom>
          <a:noFill/>
          <a:ln/>
        </p:spPr>
        <p:txBody>
          <a:bodyPr wrap="square" lIns="0" tIns="0" rIns="0" bIns="0" rtlCol="0"/>
          <a:lstStyle/>
          <a:p>
            <a:pPr algn="ctr" indent="0" marL="0">
              <a:buNone/>
            </a:pPr>
            <a:r>
              <a:rPr lang="en-US" sz="2800" b="1" dirty="0">
                <a:solidFill>
                  <a:schemeClr val="tx1"/>
                </a:solidFill>
              </a:rPr>
              <a:t>How it works</a:t>
            </a:r>
            <a:endParaRPr lang="en-US" sz="2800" dirty="0"/>
          </a:p>
        </p:txBody>
      </p:sp>
      <p:sp>
        <p:nvSpPr>
          <p:cNvPr id="3" name="Shape 1"/>
          <p:cNvSpPr/>
          <p:nvPr/>
        </p:nvSpPr>
        <p:spPr>
          <a:xfrm>
            <a:off x="586588" y="1828800"/>
            <a:ext cx="2514600" cy="3383280"/>
          </a:xfrm>
          <a:prstGeom prst="roundRect">
            <a:avLst>
              <a:gd name="adj" fmla="val 2909"/>
            </a:avLst>
          </a:prstGeom>
          <a:solidFill>
            <a:srgbClr val="EEF2EF"/>
          </a:solidFill>
          <a:ln w="12700">
            <a:solidFill>
              <a:srgbClr val="EEF2EF"/>
            </a:solidFill>
            <a:prstDash val="solid"/>
          </a:ln>
        </p:spPr>
      </p:sp>
      <p:sp>
        <p:nvSpPr>
          <p:cNvPr id="4" name="Shape 2"/>
          <p:cNvSpPr/>
          <p:nvPr/>
        </p:nvSpPr>
        <p:spPr>
          <a:xfrm>
            <a:off x="1432408" y="2194560"/>
            <a:ext cx="822960" cy="822960"/>
          </a:xfrm>
          <a:prstGeom prst="ellipse">
            <a:avLst/>
          </a:prstGeom>
          <a:solidFill>
            <a:srgbClr val="FFFFFF"/>
          </a:solidFill>
          <a:ln w="12700">
            <a:solidFill>
              <a:srgbClr val="FFFFFF"/>
            </a:solidFill>
            <a:prstDash val="solid"/>
          </a:ln>
        </p:spPr>
      </p:sp>
      <p:pic>
        <p:nvPicPr>
          <p:cNvPr id="5" name="Image 0" descr="preencoded.png">    </p:cNvPr>
          <p:cNvPicPr>
            <a:picLocks noChangeAspect="1"/>
          </p:cNvPicPr>
          <p:nvPr/>
        </p:nvPicPr>
        <p:blipFill>
          <a:blip r:embed="rId1"/>
          <a:stretch>
            <a:fillRect/>
          </a:stretch>
        </p:blipFill>
        <p:spPr>
          <a:xfrm>
            <a:off x="1606144" y="2368296"/>
            <a:ext cx="475488" cy="475488"/>
          </a:xfrm>
          <a:prstGeom prst="rect">
            <a:avLst/>
          </a:prstGeom>
        </p:spPr>
      </p:pic>
      <p:sp>
        <p:nvSpPr>
          <p:cNvPr id="6" name="Text 3"/>
          <p:cNvSpPr txBox="1"/>
          <p:nvPr/>
        </p:nvSpPr>
        <p:spPr>
          <a:xfrm>
            <a:off x="769468" y="3200400"/>
            <a:ext cx="2148840" cy="411480"/>
          </a:xfrm>
          <a:prstGeom prst="rect">
            <a:avLst/>
          </a:prstGeom>
          <a:noFill/>
          <a:ln/>
        </p:spPr>
        <p:txBody>
          <a:bodyPr wrap="square" lIns="0" tIns="0" rIns="0" bIns="0" rtlCol="0" anchor="ctr"/>
          <a:lstStyle/>
          <a:p>
            <a:pPr algn="ctr" indent="0" marL="0">
              <a:buNone/>
            </a:pPr>
            <a:r>
              <a:rPr lang="en-US" sz="1700" b="1" dirty="0">
                <a:solidFill>
                  <a:schemeClr val="tx2"/>
                </a:solidFill>
              </a:rPr>
              <a:t>Sequencer writes</a:t>
            </a:r>
            <a:endParaRPr lang="en-US" sz="1700" dirty="0"/>
          </a:p>
        </p:txBody>
      </p:sp>
      <p:sp>
        <p:nvSpPr>
          <p:cNvPr id="7" name="Text 4"/>
          <p:cNvSpPr txBox="1"/>
          <p:nvPr/>
        </p:nvSpPr>
        <p:spPr>
          <a:xfrm>
            <a:off x="769468" y="3657600"/>
            <a:ext cx="2148840" cy="1371600"/>
          </a:xfrm>
          <a:prstGeom prst="rect">
            <a:avLst/>
          </a:prstGeom>
          <a:noFill/>
          <a:ln/>
        </p:spPr>
        <p:txBody>
          <a:bodyPr wrap="square" lIns="0" tIns="0" rIns="0" bIns="0" rtlCol="0" anchor="t"/>
          <a:lstStyle/>
          <a:p>
            <a:pPr algn="ctr" indent="0" marL="0">
              <a:buNone/>
            </a:pPr>
            <a:r>
              <a:rPr lang="en-US" sz="1300" dirty="0">
                <a:solidFill>
                  <a:schemeClr val="tx1"/>
                </a:solidFill>
              </a:rPr>
              <a:t>FASTQ batches and the</a:t>
            </a:r>
            <a:endParaRPr lang="en-US" sz="1300" dirty="0"/>
          </a:p>
          <a:p>
            <a:pPr algn="ctr" indent="0" marL="0">
              <a:buNone/>
            </a:pPr>
            <a:r>
              <a:rPr lang="en-US" sz="1300" dirty="0">
                <a:solidFill>
                  <a:schemeClr val="tx1"/>
                </a:solidFill>
              </a:rPr>
              <a:t>sequencing summary,</a:t>
            </a:r>
            <a:endParaRPr lang="en-US" sz="1300" dirty="0"/>
          </a:p>
          <a:p>
            <a:pPr algn="ctr" indent="0" marL="0">
              <a:buNone/>
            </a:pPr>
            <a:r>
              <a:rPr lang="en-US" sz="1300" dirty="0">
                <a:solidFill>
                  <a:schemeClr val="tx1"/>
                </a:solidFill>
              </a:rPr>
              <a:t>as MinKNOW already does</a:t>
            </a:r>
            <a:endParaRPr lang="en-US" sz="1300" dirty="0"/>
          </a:p>
        </p:txBody>
      </p:sp>
      <p:sp>
        <p:nvSpPr>
          <p:cNvPr id="8" name="Shape 5"/>
          <p:cNvSpPr/>
          <p:nvPr/>
        </p:nvSpPr>
        <p:spPr>
          <a:xfrm>
            <a:off x="3146908" y="3337560"/>
            <a:ext cx="228600" cy="320040"/>
          </a:xfrm>
          <a:prstGeom prst="rightArrow">
            <a:avLst/>
          </a:prstGeom>
          <a:solidFill>
            <a:srgbClr val="C9D6CD"/>
          </a:solidFill>
          <a:ln w="12700">
            <a:solidFill>
              <a:srgbClr val="C9D6CD"/>
            </a:solidFill>
            <a:prstDash val="solid"/>
          </a:ln>
        </p:spPr>
      </p:sp>
      <p:sp>
        <p:nvSpPr>
          <p:cNvPr id="9" name="Shape 6"/>
          <p:cNvSpPr/>
          <p:nvPr/>
        </p:nvSpPr>
        <p:spPr>
          <a:xfrm>
            <a:off x="3421228" y="1828800"/>
            <a:ext cx="2514600" cy="3383280"/>
          </a:xfrm>
          <a:prstGeom prst="roundRect">
            <a:avLst>
              <a:gd name="adj" fmla="val 2909"/>
            </a:avLst>
          </a:prstGeom>
          <a:solidFill>
            <a:srgbClr val="EEF2EF"/>
          </a:solidFill>
          <a:ln w="12700">
            <a:solidFill>
              <a:srgbClr val="EEF2EF"/>
            </a:solidFill>
            <a:prstDash val="solid"/>
          </a:ln>
        </p:spPr>
      </p:sp>
      <p:sp>
        <p:nvSpPr>
          <p:cNvPr id="10" name="Shape 7"/>
          <p:cNvSpPr/>
          <p:nvPr/>
        </p:nvSpPr>
        <p:spPr>
          <a:xfrm>
            <a:off x="4267048" y="2194560"/>
            <a:ext cx="822960" cy="822960"/>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4440784" y="2368296"/>
            <a:ext cx="475488" cy="475488"/>
          </a:xfrm>
          <a:prstGeom prst="rect">
            <a:avLst/>
          </a:prstGeom>
        </p:spPr>
      </p:pic>
      <p:sp>
        <p:nvSpPr>
          <p:cNvPr id="12" name="Text 8"/>
          <p:cNvSpPr txBox="1"/>
          <p:nvPr/>
        </p:nvSpPr>
        <p:spPr>
          <a:xfrm>
            <a:off x="3604108" y="3200400"/>
            <a:ext cx="2148840" cy="411480"/>
          </a:xfrm>
          <a:prstGeom prst="rect">
            <a:avLst/>
          </a:prstGeom>
          <a:noFill/>
          <a:ln/>
        </p:spPr>
        <p:txBody>
          <a:bodyPr wrap="square" lIns="0" tIns="0" rIns="0" bIns="0" rtlCol="0" anchor="ctr"/>
          <a:lstStyle/>
          <a:p>
            <a:pPr algn="ctr" indent="0" marL="0">
              <a:buNone/>
            </a:pPr>
            <a:r>
              <a:rPr lang="en-US" sz="1700" b="1" dirty="0">
                <a:solidFill>
                  <a:schemeClr val="tx2"/>
                </a:solidFill>
              </a:rPr>
              <a:t>nanoCAS classifies</a:t>
            </a:r>
            <a:endParaRPr lang="en-US" sz="1700" dirty="0"/>
          </a:p>
        </p:txBody>
      </p:sp>
      <p:sp>
        <p:nvSpPr>
          <p:cNvPr id="13" name="Text 9"/>
          <p:cNvSpPr txBox="1"/>
          <p:nvPr/>
        </p:nvSpPr>
        <p:spPr>
          <a:xfrm>
            <a:off x="3604108" y="3657600"/>
            <a:ext cx="2148840" cy="1371600"/>
          </a:xfrm>
          <a:prstGeom prst="rect">
            <a:avLst/>
          </a:prstGeom>
          <a:noFill/>
          <a:ln/>
        </p:spPr>
        <p:txBody>
          <a:bodyPr wrap="square" lIns="0" tIns="0" rIns="0" bIns="0" rtlCol="0" anchor="t"/>
          <a:lstStyle/>
          <a:p>
            <a:pPr algn="ctr" indent="0" marL="0">
              <a:buNone/>
            </a:pPr>
            <a:r>
              <a:rPr lang="en-US" sz="1300" dirty="0">
                <a:solidFill>
                  <a:schemeClr val="tx1"/>
                </a:solidFill>
              </a:rPr>
              <a:t>minimap2 built in</a:t>
            </a:r>
            <a:endParaRPr lang="en-US" sz="1300" dirty="0"/>
          </a:p>
          <a:p>
            <a:pPr algn="ctr" indent="0" marL="0">
              <a:buNone/>
            </a:pPr>
            <a:r>
              <a:rPr lang="en-US" sz="1300" dirty="0">
                <a:solidFill>
                  <a:schemeClr val="tx1"/>
                </a:solidFill>
              </a:rPr>
              <a:t>Kraken2, Centrifuge</a:t>
            </a:r>
            <a:endParaRPr lang="en-US" sz="1300" dirty="0"/>
          </a:p>
          <a:p>
            <a:pPr algn="ctr" indent="0" marL="0">
              <a:buNone/>
            </a:pPr>
            <a:r>
              <a:rPr lang="en-US" sz="1300" dirty="0">
                <a:solidFill>
                  <a:schemeClr val="tx1"/>
                </a:solidFill>
              </a:rPr>
              <a:t>or your own plug-in</a:t>
            </a:r>
            <a:endParaRPr lang="en-US" sz="1300" dirty="0"/>
          </a:p>
        </p:txBody>
      </p:sp>
      <p:sp>
        <p:nvSpPr>
          <p:cNvPr id="14" name="Shape 10"/>
          <p:cNvSpPr/>
          <p:nvPr/>
        </p:nvSpPr>
        <p:spPr>
          <a:xfrm>
            <a:off x="5981548" y="3337560"/>
            <a:ext cx="228600" cy="320040"/>
          </a:xfrm>
          <a:prstGeom prst="rightArrow">
            <a:avLst/>
          </a:prstGeom>
          <a:solidFill>
            <a:srgbClr val="C9D6CD"/>
          </a:solidFill>
          <a:ln w="12700">
            <a:solidFill>
              <a:srgbClr val="C9D6CD"/>
            </a:solidFill>
            <a:prstDash val="solid"/>
          </a:ln>
        </p:spPr>
      </p:sp>
      <p:sp>
        <p:nvSpPr>
          <p:cNvPr id="15" name="Shape 11"/>
          <p:cNvSpPr/>
          <p:nvPr/>
        </p:nvSpPr>
        <p:spPr>
          <a:xfrm>
            <a:off x="6255868" y="1828800"/>
            <a:ext cx="2514600" cy="3383280"/>
          </a:xfrm>
          <a:prstGeom prst="roundRect">
            <a:avLst>
              <a:gd name="adj" fmla="val 2909"/>
            </a:avLst>
          </a:prstGeom>
          <a:solidFill>
            <a:srgbClr val="EEF2EF"/>
          </a:solidFill>
          <a:ln w="12700">
            <a:solidFill>
              <a:srgbClr val="EEF2EF"/>
            </a:solidFill>
            <a:prstDash val="solid"/>
          </a:ln>
        </p:spPr>
      </p:sp>
      <p:sp>
        <p:nvSpPr>
          <p:cNvPr id="16" name="Shape 12"/>
          <p:cNvSpPr/>
          <p:nvPr/>
        </p:nvSpPr>
        <p:spPr>
          <a:xfrm>
            <a:off x="7101688" y="2194560"/>
            <a:ext cx="822960" cy="822960"/>
          </a:xfrm>
          <a:prstGeom prst="ellipse">
            <a:avLst/>
          </a:prstGeom>
          <a:solidFill>
            <a:srgbClr val="FFFFFF"/>
          </a:solidFill>
          <a:ln w="12700">
            <a:solidFill>
              <a:srgbClr val="FFFFFF"/>
            </a:solidFill>
            <a:prstDash val="solid"/>
          </a:ln>
        </p:spPr>
      </p:sp>
      <p:pic>
        <p:nvPicPr>
          <p:cNvPr id="17" name="Image 2" descr="preencoded.png">    </p:cNvPr>
          <p:cNvPicPr>
            <a:picLocks noChangeAspect="1"/>
          </p:cNvPicPr>
          <p:nvPr/>
        </p:nvPicPr>
        <p:blipFill>
          <a:blip r:embed="rId3"/>
          <a:stretch>
            <a:fillRect/>
          </a:stretch>
        </p:blipFill>
        <p:spPr>
          <a:xfrm>
            <a:off x="7275424" y="2368296"/>
            <a:ext cx="475488" cy="475488"/>
          </a:xfrm>
          <a:prstGeom prst="rect">
            <a:avLst/>
          </a:prstGeom>
        </p:spPr>
      </p:pic>
      <p:sp>
        <p:nvSpPr>
          <p:cNvPr id="18" name="Text 13"/>
          <p:cNvSpPr txBox="1"/>
          <p:nvPr/>
        </p:nvSpPr>
        <p:spPr>
          <a:xfrm>
            <a:off x="6438748" y="3200400"/>
            <a:ext cx="2148840" cy="411480"/>
          </a:xfrm>
          <a:prstGeom prst="rect">
            <a:avLst/>
          </a:prstGeom>
          <a:noFill/>
          <a:ln/>
        </p:spPr>
        <p:txBody>
          <a:bodyPr wrap="square" lIns="0" tIns="0" rIns="0" bIns="0" rtlCol="0" anchor="ctr"/>
          <a:lstStyle/>
          <a:p>
            <a:pPr algn="ctr" indent="0" marL="0">
              <a:buNone/>
            </a:pPr>
            <a:r>
              <a:rPr lang="en-US" sz="1700" b="1" dirty="0">
                <a:solidFill>
                  <a:schemeClr val="tx2"/>
                </a:solidFill>
              </a:rPr>
              <a:t>Rules you set</a:t>
            </a:r>
            <a:endParaRPr lang="en-US" sz="1700" dirty="0"/>
          </a:p>
        </p:txBody>
      </p:sp>
      <p:sp>
        <p:nvSpPr>
          <p:cNvPr id="19" name="Text 14"/>
          <p:cNvSpPr txBox="1"/>
          <p:nvPr/>
        </p:nvSpPr>
        <p:spPr>
          <a:xfrm>
            <a:off x="6438748" y="3657600"/>
            <a:ext cx="2148840" cy="1371600"/>
          </a:xfrm>
          <a:prstGeom prst="rect">
            <a:avLst/>
          </a:prstGeom>
          <a:noFill/>
          <a:ln/>
        </p:spPr>
        <p:txBody>
          <a:bodyPr wrap="square" lIns="0" tIns="0" rIns="0" bIns="0" rtlCol="0" anchor="t"/>
          <a:lstStyle/>
          <a:p>
            <a:pPr algn="ctr" indent="0" marL="0">
              <a:buNone/>
            </a:pPr>
            <a:r>
              <a:rPr lang="en-US" sz="1300" dirty="0">
                <a:solidFill>
                  <a:schemeClr val="tx1"/>
                </a:solidFill>
              </a:rPr>
              <a:t>depth, breadth, reads, fraction</a:t>
            </a:r>
            <a:endParaRPr lang="en-US" sz="1300" dirty="0"/>
          </a:p>
          <a:p>
            <a:pPr algn="ctr" indent="0" marL="0">
              <a:buNone/>
            </a:pPr>
            <a:r>
              <a:rPr lang="en-US" sz="1300" dirty="0">
                <a:solidFill>
                  <a:schemeClr val="tx1"/>
                </a:solidFill>
              </a:rPr>
              <a:t>per target or per gene (GFF)</a:t>
            </a:r>
            <a:endParaRPr lang="en-US" sz="1300" dirty="0"/>
          </a:p>
          <a:p>
            <a:pPr algn="ctr" indent="0" marL="0">
              <a:buNone/>
            </a:pPr>
            <a:r>
              <a:rPr lang="en-US" sz="1300" dirty="0">
                <a:solidFill>
                  <a:schemeClr val="tx1"/>
                </a:solidFill>
              </a:rPr>
              <a:t>plus seven instrument rules</a:t>
            </a:r>
            <a:endParaRPr lang="en-US" sz="1300" dirty="0"/>
          </a:p>
        </p:txBody>
      </p:sp>
      <p:sp>
        <p:nvSpPr>
          <p:cNvPr id="20" name="Shape 15"/>
          <p:cNvSpPr/>
          <p:nvPr/>
        </p:nvSpPr>
        <p:spPr>
          <a:xfrm>
            <a:off x="8816188" y="3337560"/>
            <a:ext cx="228600" cy="320040"/>
          </a:xfrm>
          <a:prstGeom prst="rightArrow">
            <a:avLst/>
          </a:prstGeom>
          <a:solidFill>
            <a:srgbClr val="C9D6CD"/>
          </a:solidFill>
          <a:ln w="12700">
            <a:solidFill>
              <a:srgbClr val="C9D6CD"/>
            </a:solidFill>
            <a:prstDash val="solid"/>
          </a:ln>
        </p:spPr>
      </p:sp>
      <p:sp>
        <p:nvSpPr>
          <p:cNvPr id="21" name="Shape 16"/>
          <p:cNvSpPr/>
          <p:nvPr/>
        </p:nvSpPr>
        <p:spPr>
          <a:xfrm>
            <a:off x="9090508" y="1828800"/>
            <a:ext cx="2514600" cy="3383280"/>
          </a:xfrm>
          <a:prstGeom prst="roundRect">
            <a:avLst>
              <a:gd name="adj" fmla="val 2909"/>
            </a:avLst>
          </a:prstGeom>
          <a:solidFill>
            <a:srgbClr val="1E3E2F"/>
          </a:solidFill>
          <a:ln w="12700">
            <a:solidFill>
              <a:srgbClr val="1E3E2F"/>
            </a:solidFill>
            <a:prstDash val="solid"/>
          </a:ln>
        </p:spPr>
      </p:sp>
      <p:sp>
        <p:nvSpPr>
          <p:cNvPr id="22" name="Shape 17"/>
          <p:cNvSpPr/>
          <p:nvPr/>
        </p:nvSpPr>
        <p:spPr>
          <a:xfrm>
            <a:off x="9936328" y="2194560"/>
            <a:ext cx="822960" cy="822960"/>
          </a:xfrm>
          <a:prstGeom prst="ellipse">
            <a:avLst/>
          </a:prstGeom>
          <a:solidFill>
            <a:srgbClr val="FFFFFF"/>
          </a:solidFill>
          <a:ln w="12700">
            <a:solidFill>
              <a:srgbClr val="FFFFFF"/>
            </a:solidFill>
            <a:prstDash val="solid"/>
          </a:ln>
        </p:spPr>
      </p:sp>
      <p:pic>
        <p:nvPicPr>
          <p:cNvPr id="23" name="Image 3" descr="preencoded.png">    </p:cNvPr>
          <p:cNvPicPr>
            <a:picLocks noChangeAspect="1"/>
          </p:cNvPicPr>
          <p:nvPr/>
        </p:nvPicPr>
        <p:blipFill>
          <a:blip r:embed="rId4"/>
          <a:stretch>
            <a:fillRect/>
          </a:stretch>
        </p:blipFill>
        <p:spPr>
          <a:xfrm>
            <a:off x="10110064" y="2368296"/>
            <a:ext cx="475488" cy="475488"/>
          </a:xfrm>
          <a:prstGeom prst="rect">
            <a:avLst/>
          </a:prstGeom>
        </p:spPr>
      </p:pic>
      <p:sp>
        <p:nvSpPr>
          <p:cNvPr id="24" name="Text 18"/>
          <p:cNvSpPr txBox="1"/>
          <p:nvPr/>
        </p:nvSpPr>
        <p:spPr>
          <a:xfrm>
            <a:off x="9273388" y="3200400"/>
            <a:ext cx="2148840" cy="411480"/>
          </a:xfrm>
          <a:prstGeom prst="rect">
            <a:avLst/>
          </a:prstGeom>
          <a:noFill/>
          <a:ln/>
        </p:spPr>
        <p:txBody>
          <a:bodyPr wrap="square" lIns="0" tIns="0" rIns="0" bIns="0" rtlCol="0" anchor="ctr"/>
          <a:lstStyle/>
          <a:p>
            <a:pPr algn="ctr" indent="0" marL="0">
              <a:buNone/>
            </a:pPr>
            <a:r>
              <a:rPr lang="en-US" sz="1700" b="1" dirty="0">
                <a:solidFill>
                  <a:srgbClr val="FFFFFF"/>
                </a:solidFill>
              </a:rPr>
              <a:t>A person is told</a:t>
            </a:r>
            <a:endParaRPr lang="en-US" sz="1700" dirty="0"/>
          </a:p>
        </p:txBody>
      </p:sp>
      <p:sp>
        <p:nvSpPr>
          <p:cNvPr id="25" name="Text 19"/>
          <p:cNvSpPr txBox="1"/>
          <p:nvPr/>
        </p:nvSpPr>
        <p:spPr>
          <a:xfrm>
            <a:off x="9273388" y="3657600"/>
            <a:ext cx="2148840" cy="1371600"/>
          </a:xfrm>
          <a:prstGeom prst="rect">
            <a:avLst/>
          </a:prstGeom>
          <a:noFill/>
          <a:ln/>
        </p:spPr>
        <p:txBody>
          <a:bodyPr wrap="square" lIns="0" tIns="0" rIns="0" bIns="0" rtlCol="0" anchor="t"/>
          <a:lstStyle/>
          <a:p>
            <a:pPr algn="ctr" indent="0" marL="0">
              <a:buNone/>
            </a:pPr>
            <a:r>
              <a:rPr lang="en-US" sz="1300" dirty="0">
                <a:solidFill>
                  <a:srgbClr val="FFFFFF"/>
                </a:solidFill>
              </a:rPr>
              <a:t>e-mail, SMS, desktop</a:t>
            </a:r>
            <a:endParaRPr lang="en-US" sz="1300" dirty="0"/>
          </a:p>
          <a:p>
            <a:pPr algn="ctr" indent="0" marL="0">
              <a:buNone/>
            </a:pPr>
            <a:r>
              <a:rPr lang="en-US" sz="1300" dirty="0">
                <a:solidFill>
                  <a:srgbClr val="FFFFFF"/>
                </a:solidFill>
              </a:rPr>
              <a:t>and a MinKNOW message,</a:t>
            </a:r>
            <a:endParaRPr lang="en-US" sz="1300" dirty="0"/>
          </a:p>
          <a:p>
            <a:pPr algn="ctr" indent="0" marL="0">
              <a:buNone/>
            </a:pPr>
            <a:r>
              <a:rPr lang="en-US" sz="1300" dirty="0">
                <a:solidFill>
                  <a:srgbClr val="FFFFFF"/>
                </a:solidFill>
              </a:rPr>
              <a:t>the moment a rule fires</a:t>
            </a:r>
            <a:endParaRPr lang="en-US" sz="1300" dirty="0"/>
          </a:p>
        </p:txBody>
      </p:sp>
      <p:sp>
        <p:nvSpPr>
          <p:cNvPr id="26" name="Text 20"/>
          <p:cNvSpPr txBox="1"/>
          <p:nvPr/>
        </p:nvSpPr>
        <p:spPr>
          <a:xfrm>
            <a:off x="914400" y="5532120"/>
            <a:ext cx="10360152" cy="457200"/>
          </a:xfrm>
          <a:prstGeom prst="rect">
            <a:avLst/>
          </a:prstGeom>
          <a:noFill/>
          <a:ln/>
        </p:spPr>
        <p:txBody>
          <a:bodyPr wrap="square" lIns="0" tIns="0" rIns="0" bIns="0" rtlCol="0" anchor="ctr"/>
          <a:lstStyle/>
          <a:p>
            <a:pPr algn="ctr" indent="0" marL="0">
              <a:buNone/>
            </a:pPr>
            <a:r>
              <a:rPr lang="en-US" sz="1300" dirty="0">
                <a:solidFill>
                  <a:srgbClr val="6B7A82"/>
                </a:solidFill>
              </a:rPr>
              <a:t>One Python process on the laptop that runs the MinION. No cloud, no account, nothing leaves the lab. Every alert fires once per run and is written to a log.</a:t>
            </a:r>
            <a:endParaRPr lang="en-US" sz="1300" dirty="0"/>
          </a:p>
        </p:txBody>
      </p:sp>
      <p:sp>
        <p:nvSpPr>
          <p:cNvPr id="25" name="Slide Number Placeholder 0"/>
          <p:cNvSpPr>
            <a:spLocks noGrp="1"/>
          </p:cNvSpPr>
          <p:nvPr>
            <p:ph type="sldNum" sz="quarter" idx="4294967295"/>
          </p:nvPr>
        </p:nvSpPr>
        <p:spPr>
          <a:xfrm>
            <a:off x="11247120" y="59618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822960" y="777240"/>
            <a:ext cx="10543032" cy="640080"/>
          </a:xfrm>
          <a:prstGeom prst="rect">
            <a:avLst/>
          </a:prstGeom>
          <a:noFill/>
          <a:ln/>
        </p:spPr>
        <p:txBody>
          <a:bodyPr wrap="square" lIns="0" tIns="0" rIns="0" bIns="0" rtlCol="0"/>
          <a:lstStyle/>
          <a:p>
            <a:pPr algn="ctr" indent="0" marL="0">
              <a:buNone/>
            </a:pPr>
            <a:r>
              <a:rPr lang="en-US" sz="2800" b="1" dirty="0">
                <a:solidFill>
                  <a:schemeClr val="tx1"/>
                </a:solidFill>
              </a:rPr>
              <a:t>The moment a threshold is crossed</a:t>
            </a:r>
            <a:endParaRPr lang="en-US" sz="2800" dirty="0"/>
          </a:p>
        </p:txBody>
      </p:sp>
      <p:pic>
        <p:nvPicPr>
          <p:cNvPr id="3" name="Image 0" descr="/tmp/claude-0/-home-user-nanoCAS/2df442f6-a263-52d2-9b94-5a00d02710a2/scratchpad/deck/assets/shot_coverage.png">    </p:cNvPr>
          <p:cNvPicPr>
            <a:picLocks noChangeAspect="1"/>
          </p:cNvPicPr>
          <p:nvPr/>
        </p:nvPicPr>
        <p:blipFill>
          <a:blip r:embed="rId1"/>
          <a:stretch>
            <a:fillRect/>
          </a:stretch>
        </p:blipFill>
        <p:spPr>
          <a:xfrm>
            <a:off x="2304288" y="1600200"/>
            <a:ext cx="7589520" cy="4361688"/>
          </a:xfrm>
          <a:prstGeom prst="rect">
            <a:avLst/>
          </a:prstGeom>
        </p:spPr>
      </p:pic>
      <p:sp>
        <p:nvSpPr>
          <p:cNvPr id="25" name="Slide Number Placeholder 0"/>
          <p:cNvSpPr>
            <a:spLocks noGrp="1"/>
          </p:cNvSpPr>
          <p:nvPr>
            <p:ph type="sldNum" sz="quarter" idx="4294967295"/>
          </p:nvPr>
        </p:nvSpPr>
        <p:spPr>
          <a:xfrm>
            <a:off x="11247120" y="59618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2" type="title" hasCustomPrompt="1"/>
          </p:nvPr>
        </p:nvSpPr>
        <p:spPr>
          <a:xfrm>
            <a:off x="822960" y="777240"/>
            <a:ext cx="10543032" cy="640080"/>
          </a:xfrm>
          <a:prstGeom prst="rect">
            <a:avLst/>
          </a:prstGeom>
          <a:noFill/>
          <a:ln/>
        </p:spPr>
        <p:txBody>
          <a:bodyPr wrap="square" lIns="0" tIns="0" rIns="0" bIns="0" rtlCol="0"/>
          <a:lstStyle/>
          <a:p>
            <a:pPr algn="ctr" indent="0" marL="0">
              <a:buNone/>
            </a:pPr>
            <a:r>
              <a:rPr lang="en-US" sz="2800" b="1" dirty="0">
                <a:solidFill>
                  <a:schemeClr val="tx1"/>
                </a:solidFill>
              </a:rPr>
              <a:t>When the instrument is the problem</a:t>
            </a:r>
            <a:endParaRPr lang="en-US" sz="2800" dirty="0"/>
          </a:p>
        </p:txBody>
      </p:sp>
      <p:pic>
        <p:nvPicPr>
          <p:cNvPr id="3" name="Image 0" descr="/tmp/claude-0/-home-user-nanoCAS/2df442f6-a263-52d2-9b94-5a00d02710a2/scratchpad/deck/assets/shot_runhealth.png">    </p:cNvPr>
          <p:cNvPicPr>
            <a:picLocks noChangeAspect="1"/>
          </p:cNvPicPr>
          <p:nvPr/>
        </p:nvPicPr>
        <p:blipFill>
          <a:blip r:embed="rId1"/>
          <a:stretch>
            <a:fillRect/>
          </a:stretch>
        </p:blipFill>
        <p:spPr>
          <a:xfrm>
            <a:off x="822960" y="1691640"/>
            <a:ext cx="7315200" cy="3383280"/>
          </a:xfrm>
          <a:prstGeom prst="rect">
            <a:avLst/>
          </a:prstGeom>
        </p:spPr>
      </p:pic>
      <p:sp>
        <p:nvSpPr>
          <p:cNvPr id="4" name="Text 1"/>
          <p:cNvSpPr txBox="1"/>
          <p:nvPr/>
        </p:nvSpPr>
        <p:spPr>
          <a:xfrm>
            <a:off x="8503920" y="1645920"/>
            <a:ext cx="3017520" cy="594360"/>
          </a:xfrm>
          <a:prstGeom prst="rect">
            <a:avLst/>
          </a:prstGeom>
          <a:noFill/>
          <a:ln/>
        </p:spPr>
        <p:txBody>
          <a:bodyPr wrap="square" lIns="0" tIns="0" rIns="0" bIns="0" rtlCol="0" anchor="t"/>
          <a:lstStyle/>
          <a:p>
            <a:pPr indent="0" marL="0">
              <a:buNone/>
            </a:pPr>
            <a:r>
              <a:rPr lang="en-US" sz="1500" b="1" dirty="0">
                <a:solidFill>
                  <a:schemeClr val="tx2"/>
                </a:solidFill>
              </a:rPr>
              <a:t>Seven rules, evaluated every 30 seconds</a:t>
            </a:r>
            <a:endParaRPr lang="en-US" sz="1500" dirty="0"/>
          </a:p>
        </p:txBody>
      </p:sp>
      <p:sp>
        <p:nvSpPr>
          <p:cNvPr id="5" name="Text 2"/>
          <p:cNvSpPr txBox="1"/>
          <p:nvPr/>
        </p:nvSpPr>
        <p:spPr>
          <a:xfrm>
            <a:off x="8503920" y="2377440"/>
            <a:ext cx="3017520" cy="29260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Run never started</a:t>
            </a:r>
            <a:endParaRPr lang="en-US" sz="1400" dirty="0"/>
          </a:p>
          <a:p>
            <a:pPr marL="177800" indent="-177800">
              <a:spcAft>
                <a:spcPts val="600"/>
              </a:spcAft>
              <a:buSzPct val="100000"/>
              <a:buChar char="•"/>
            </a:pPr>
            <a:r>
              <a:rPr lang="en-US" sz="1400" dirty="0">
                <a:solidFill>
                  <a:schemeClr val="tx1"/>
                </a:solidFill>
              </a:rPr>
              <a:t>Output stalled</a:t>
            </a:r>
            <a:endParaRPr lang="en-US" sz="1400" dirty="0"/>
          </a:p>
          <a:p>
            <a:pPr marL="177800" indent="-177800">
              <a:spcAft>
                <a:spcPts val="600"/>
              </a:spcAft>
              <a:buSzPct val="100000"/>
              <a:buChar char="•"/>
            </a:pPr>
            <a:r>
              <a:rPr lang="en-US" sz="1400" dirty="0">
                <a:solidFill>
                  <a:schemeClr val="tx1"/>
                </a:solidFill>
              </a:rPr>
              <a:t>Read quality collapsed</a:t>
            </a:r>
            <a:endParaRPr lang="en-US" sz="1400" dirty="0"/>
          </a:p>
          <a:p>
            <a:pPr marL="177800" indent="-177800">
              <a:spcAft>
                <a:spcPts val="600"/>
              </a:spcAft>
              <a:buSzPct val="100000"/>
              <a:buChar char="•"/>
            </a:pPr>
            <a:r>
              <a:rPr lang="en-US" sz="1400" dirty="0">
                <a:solidFill>
                  <a:schemeClr val="tx1"/>
                </a:solidFill>
              </a:rPr>
              <a:t>Pores declining</a:t>
            </a:r>
            <a:endParaRPr lang="en-US" sz="1400" dirty="0"/>
          </a:p>
          <a:p>
            <a:pPr marL="177800" indent="-177800">
              <a:spcAft>
                <a:spcPts val="600"/>
              </a:spcAft>
              <a:buSzPct val="100000"/>
              <a:buChar char="•"/>
            </a:pPr>
            <a:r>
              <a:rPr lang="en-US" sz="1400" dirty="0">
                <a:solidFill>
                  <a:schemeClr val="tx1"/>
                </a:solidFill>
              </a:rPr>
              <a:t>Too few active channels</a:t>
            </a:r>
            <a:endParaRPr lang="en-US" sz="1400" dirty="0"/>
          </a:p>
          <a:p>
            <a:pPr marL="177800" indent="-177800">
              <a:spcAft>
                <a:spcPts val="600"/>
              </a:spcAft>
              <a:buSzPct val="100000"/>
              <a:buChar char="•"/>
            </a:pPr>
            <a:r>
              <a:rPr lang="en-US" sz="1400" dirty="0">
                <a:solidFill>
                  <a:schemeClr val="tx1"/>
                </a:solidFill>
              </a:rPr>
              <a:t>Low pass rate</a:t>
            </a:r>
            <a:endParaRPr lang="en-US" sz="1400" dirty="0"/>
          </a:p>
          <a:p>
            <a:pPr marL="177800" indent="-177800">
              <a:spcAft>
                <a:spcPts val="600"/>
              </a:spcAft>
              <a:buSzPct val="100000"/>
              <a:buChar char="•"/>
            </a:pPr>
            <a:r>
              <a:rPr lang="en-US" sz="1400" dirty="0">
                <a:solidFill>
                  <a:schemeClr val="tx1"/>
                </a:solidFill>
              </a:rPr>
              <a:t>Reads too short</a:t>
            </a:r>
            <a:endParaRPr lang="en-US" sz="1400" dirty="0"/>
          </a:p>
        </p:txBody>
      </p:sp>
      <p:sp>
        <p:nvSpPr>
          <p:cNvPr id="6" name="Text 3"/>
          <p:cNvSpPr txBox="1"/>
          <p:nvPr/>
        </p:nvSpPr>
        <p:spPr>
          <a:xfrm>
            <a:off x="822960" y="5486400"/>
            <a:ext cx="10543032" cy="457200"/>
          </a:xfrm>
          <a:prstGeom prst="rect">
            <a:avLst/>
          </a:prstGeom>
          <a:noFill/>
          <a:ln/>
        </p:spPr>
        <p:txBody>
          <a:bodyPr wrap="square" lIns="0" tIns="0" rIns="0" bIns="0" rtlCol="0" anchor="ctr"/>
          <a:lstStyle/>
          <a:p>
            <a:pPr algn="ctr" indent="0" marL="0">
              <a:buNone/>
            </a:pPr>
            <a:r>
              <a:rPr lang="en-US" sz="1300" dirty="0">
                <a:solidFill>
                  <a:srgbClr val="6B7A82"/>
                </a:solidFill>
              </a:rPr>
              <a:t>Each rule fires after two consecutive checks and logs a recovery when it clears, so a slow batch does not raise an alarm.</a:t>
            </a:r>
            <a:endParaRPr lang="en-US" sz="1300" dirty="0"/>
          </a:p>
        </p:txBody>
      </p:sp>
      <p:sp>
        <p:nvSpPr>
          <p:cNvPr id="25" name="Slide Number Placeholder 0"/>
          <p:cNvSpPr>
            <a:spLocks noGrp="1"/>
          </p:cNvSpPr>
          <p:nvPr>
            <p:ph type="sldNum" sz="quarter" idx="4294967295"/>
          </p:nvPr>
        </p:nvSpPr>
        <p:spPr>
          <a:xfrm>
            <a:off x="11247120" y="59618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2" type="title" hasCustomPrompt="1"/>
          </p:nvPr>
        </p:nvSpPr>
        <p:spPr>
          <a:xfrm>
            <a:off x="822960" y="777240"/>
            <a:ext cx="10543032" cy="640080"/>
          </a:xfrm>
          <a:prstGeom prst="rect">
            <a:avLst/>
          </a:prstGeom>
          <a:noFill/>
          <a:ln/>
        </p:spPr>
        <p:txBody>
          <a:bodyPr wrap="square" lIns="0" tIns="0" rIns="0" bIns="0" rtlCol="0"/>
          <a:lstStyle/>
          <a:p>
            <a:pPr algn="ctr" indent="0" marL="0">
              <a:buNone/>
            </a:pPr>
            <a:r>
              <a:rPr lang="en-US" sz="2800" b="1" dirty="0">
                <a:solidFill>
                  <a:schemeClr val="tx1"/>
                </a:solidFill>
              </a:rPr>
              <a:t>Sequencing next to the test you already trust</a:t>
            </a:r>
            <a:endParaRPr lang="en-US" sz="2800" dirty="0"/>
          </a:p>
        </p:txBody>
      </p:sp>
      <p:pic>
        <p:nvPicPr>
          <p:cNvPr id="3" name="Image 0" descr="/tmp/claude-0/-home-user-nanoCAS/2df442f6-a263-52d2-9b94-5a00d02710a2/scratchpad/deck/assets/shot_lab.png">    </p:cNvPr>
          <p:cNvPicPr>
            <a:picLocks noChangeAspect="1"/>
          </p:cNvPicPr>
          <p:nvPr/>
        </p:nvPicPr>
        <p:blipFill>
          <a:blip r:embed="rId1"/>
          <a:stretch>
            <a:fillRect/>
          </a:stretch>
        </p:blipFill>
        <p:spPr>
          <a:xfrm>
            <a:off x="2807208" y="1600200"/>
            <a:ext cx="6583680" cy="3840480"/>
          </a:xfrm>
          <a:prstGeom prst="rect">
            <a:avLst/>
          </a:prstGeom>
        </p:spPr>
      </p:pic>
      <p:sp>
        <p:nvSpPr>
          <p:cNvPr id="4" name="Text 1"/>
          <p:cNvSpPr txBox="1"/>
          <p:nvPr/>
        </p:nvSpPr>
        <p:spPr>
          <a:xfrm>
            <a:off x="914400" y="5532120"/>
            <a:ext cx="10360152" cy="457200"/>
          </a:xfrm>
          <a:prstGeom prst="rect">
            <a:avLst/>
          </a:prstGeom>
          <a:noFill/>
          <a:ln/>
        </p:spPr>
        <p:txBody>
          <a:bodyPr wrap="square" lIns="0" tIns="0" rIns="0" bIns="0" rtlCol="0" anchor="ctr"/>
          <a:lstStyle/>
          <a:p>
            <a:pPr algn="ctr" indent="0" marL="0">
              <a:buNone/>
            </a:pPr>
            <a:r>
              <a:rPr lang="en-US" sz="1300" dirty="0">
                <a:solidFill>
                  <a:srgbClr val="6B7A82"/>
                </a:solidFill>
              </a:rPr>
              <a:t>Record the qPCR result and Ct per target. nanoCAS reports agreement, time to detection, and the relationship between Ct and read yield, and pools them across runs.</a:t>
            </a:r>
            <a:endParaRPr lang="en-US" sz="1300" dirty="0"/>
          </a:p>
        </p:txBody>
      </p:sp>
      <p:sp>
        <p:nvSpPr>
          <p:cNvPr id="25" name="Slide Number Placeholder 0"/>
          <p:cNvSpPr>
            <a:spLocks noGrp="1"/>
          </p:cNvSpPr>
          <p:nvPr>
            <p:ph type="sldNum" sz="quarter" idx="4294967295"/>
          </p:nvPr>
        </p:nvSpPr>
        <p:spPr>
          <a:xfrm>
            <a:off x="11247120" y="59618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2" type="title" hasCustomPrompt="1"/>
          </p:nvPr>
        </p:nvSpPr>
        <p:spPr>
          <a:xfrm>
            <a:off x="822960" y="777240"/>
            <a:ext cx="10543032" cy="640080"/>
          </a:xfrm>
          <a:prstGeom prst="rect">
            <a:avLst/>
          </a:prstGeom>
          <a:noFill/>
          <a:ln/>
        </p:spPr>
        <p:txBody>
          <a:bodyPr wrap="square" lIns="0" tIns="0" rIns="0" bIns="0" rtlCol="0"/>
          <a:lstStyle/>
          <a:p>
            <a:pPr algn="ctr" indent="0" marL="0">
              <a:buNone/>
            </a:pPr>
            <a:r>
              <a:rPr lang="en-US" sz="2800" b="1" dirty="0">
                <a:solidFill>
                  <a:schemeClr val="tx1"/>
                </a:solidFill>
              </a:rPr>
              <a:t>Case study 1: a plant pathogen, naturally infected tissue</a:t>
            </a:r>
            <a:endParaRPr lang="en-US" sz="2800" dirty="0"/>
          </a:p>
        </p:txBody>
      </p:sp>
      <p:sp>
        <p:nvSpPr>
          <p:cNvPr id="3" name="Text 1"/>
          <p:cNvSpPr txBox="1"/>
          <p:nvPr/>
        </p:nvSpPr>
        <p:spPr>
          <a:xfrm>
            <a:off x="914400" y="1554480"/>
            <a:ext cx="10360152" cy="548640"/>
          </a:xfrm>
          <a:prstGeom prst="rect">
            <a:avLst/>
          </a:prstGeom>
          <a:noFill/>
          <a:ln/>
        </p:spPr>
        <p:txBody>
          <a:bodyPr wrap="square" lIns="0" tIns="0" rIns="0" bIns="0" rtlCol="0" anchor="ctr"/>
          <a:lstStyle/>
          <a:p>
            <a:pPr algn="ctr" indent="0" marL="0">
              <a:buNone/>
            </a:pPr>
            <a:r>
              <a:rPr lang="en-US" sz="1500" b="1" i="1" dirty="0">
                <a:solidFill>
                  <a:schemeClr val="tx2"/>
                </a:solidFill>
              </a:rPr>
              <a:t>Xylella fastidiosa</a:t>
            </a:r>
            <a:pPr algn="ctr" indent="0" marL="0">
              <a:buNone/>
            </a:pPr>
            <a:r>
              <a:rPr lang="en-US" sz="1500" dirty="0">
                <a:solidFill>
                  <a:schemeClr val="tx2"/>
                </a:solidFill>
              </a:rPr>
              <a:t>   ·   quarantine organism, low titre in host tissue, qPCR is the reference method</a:t>
            </a:r>
            <a:endParaRPr lang="en-US" sz="1500" dirty="0"/>
          </a:p>
        </p:txBody>
      </p:sp>
      <p:sp>
        <p:nvSpPr>
          <p:cNvPr id="4" name="Shape 2"/>
          <p:cNvSpPr/>
          <p:nvPr/>
        </p:nvSpPr>
        <p:spPr>
          <a:xfrm>
            <a:off x="1020928" y="2377440"/>
            <a:ext cx="3108960" cy="2286000"/>
          </a:xfrm>
          <a:prstGeom prst="roundRect">
            <a:avLst>
              <a:gd name="adj" fmla="val 3200"/>
            </a:avLst>
          </a:prstGeom>
          <a:solidFill>
            <a:srgbClr val="EEF2EF"/>
          </a:solidFill>
          <a:ln w="12700">
            <a:solidFill>
              <a:srgbClr val="EEF2EF"/>
            </a:solidFill>
            <a:prstDash val="solid"/>
          </a:ln>
        </p:spPr>
      </p:sp>
      <p:sp>
        <p:nvSpPr>
          <p:cNvPr id="5" name="Shape 3"/>
          <p:cNvSpPr/>
          <p:nvPr/>
        </p:nvSpPr>
        <p:spPr>
          <a:xfrm>
            <a:off x="1295248" y="2651760"/>
            <a:ext cx="502920" cy="502920"/>
          </a:xfrm>
          <a:prstGeom prst="ellipse">
            <a:avLst/>
          </a:prstGeom>
          <a:solidFill>
            <a:srgbClr val="1E3E2F"/>
          </a:solidFill>
          <a:ln w="12700">
            <a:solidFill>
              <a:srgbClr val="1E3E2F"/>
            </a:solidFill>
            <a:prstDash val="solid"/>
          </a:ln>
        </p:spPr>
      </p:sp>
      <p:sp>
        <p:nvSpPr>
          <p:cNvPr id="6" name="Text 4"/>
          <p:cNvSpPr txBox="1"/>
          <p:nvPr/>
        </p:nvSpPr>
        <p:spPr>
          <a:xfrm>
            <a:off x="1295248" y="26517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Text 5"/>
          <p:cNvSpPr txBox="1"/>
          <p:nvPr/>
        </p:nvSpPr>
        <p:spPr>
          <a:xfrm>
            <a:off x="1935328" y="2670048"/>
            <a:ext cx="1965960" cy="457200"/>
          </a:xfrm>
          <a:prstGeom prst="rect">
            <a:avLst/>
          </a:prstGeom>
          <a:noFill/>
          <a:ln/>
        </p:spPr>
        <p:txBody>
          <a:bodyPr wrap="square" lIns="0" tIns="0" rIns="0" bIns="0" rtlCol="0" anchor="ctr"/>
          <a:lstStyle/>
          <a:p>
            <a:pPr indent="0" marL="0">
              <a:buNone/>
            </a:pPr>
            <a:r>
              <a:rPr lang="en-US" sz="1600" b="1" dirty="0">
                <a:solidFill>
                  <a:schemeClr val="tx2"/>
                </a:solidFill>
              </a:rPr>
              <a:t>Samples</a:t>
            </a:r>
            <a:endParaRPr lang="en-US" sz="1600" dirty="0"/>
          </a:p>
        </p:txBody>
      </p:sp>
      <p:sp>
        <p:nvSpPr>
          <p:cNvPr id="8" name="Text 6"/>
          <p:cNvSpPr txBox="1"/>
          <p:nvPr/>
        </p:nvSpPr>
        <p:spPr>
          <a:xfrm>
            <a:off x="1295248" y="3337560"/>
            <a:ext cx="2560320" cy="1188720"/>
          </a:xfrm>
          <a:prstGeom prst="rect">
            <a:avLst/>
          </a:prstGeom>
          <a:noFill/>
          <a:ln/>
        </p:spPr>
        <p:txBody>
          <a:bodyPr wrap="square" lIns="0" tIns="0" rIns="0" bIns="0" rtlCol="0" anchor="t"/>
          <a:lstStyle/>
          <a:p>
            <a:pPr indent="0" marL="0">
              <a:buNone/>
            </a:pPr>
            <a:r>
              <a:rPr lang="en-US" sz="1300" dirty="0">
                <a:solidFill>
                  <a:schemeClr val="tx1"/>
                </a:solidFill>
              </a:rPr>
              <a:t>Naturally infected plant material spanning a range of qPCR Ct values, each with absolute quantification.</a:t>
            </a:r>
            <a:endParaRPr lang="en-US" sz="1300" dirty="0"/>
          </a:p>
        </p:txBody>
      </p:sp>
      <p:sp>
        <p:nvSpPr>
          <p:cNvPr id="9" name="Shape 7"/>
          <p:cNvSpPr/>
          <p:nvPr/>
        </p:nvSpPr>
        <p:spPr>
          <a:xfrm>
            <a:off x="4221328" y="3337560"/>
            <a:ext cx="228600" cy="320040"/>
          </a:xfrm>
          <a:prstGeom prst="rightArrow">
            <a:avLst/>
          </a:prstGeom>
          <a:solidFill>
            <a:srgbClr val="C9D6CD"/>
          </a:solidFill>
          <a:ln w="12700">
            <a:solidFill>
              <a:srgbClr val="C9D6CD"/>
            </a:solidFill>
            <a:prstDash val="solid"/>
          </a:ln>
        </p:spPr>
      </p:sp>
      <p:sp>
        <p:nvSpPr>
          <p:cNvPr id="10" name="Shape 8"/>
          <p:cNvSpPr/>
          <p:nvPr/>
        </p:nvSpPr>
        <p:spPr>
          <a:xfrm>
            <a:off x="4541368" y="2377440"/>
            <a:ext cx="3108960" cy="2286000"/>
          </a:xfrm>
          <a:prstGeom prst="roundRect">
            <a:avLst>
              <a:gd name="adj" fmla="val 3200"/>
            </a:avLst>
          </a:prstGeom>
          <a:solidFill>
            <a:srgbClr val="EEF2EF"/>
          </a:solidFill>
          <a:ln w="12700">
            <a:solidFill>
              <a:srgbClr val="EEF2EF"/>
            </a:solidFill>
            <a:prstDash val="solid"/>
          </a:ln>
        </p:spPr>
      </p:sp>
      <p:sp>
        <p:nvSpPr>
          <p:cNvPr id="11" name="Shape 9"/>
          <p:cNvSpPr/>
          <p:nvPr/>
        </p:nvSpPr>
        <p:spPr>
          <a:xfrm>
            <a:off x="4815688" y="2651760"/>
            <a:ext cx="502920" cy="502920"/>
          </a:xfrm>
          <a:prstGeom prst="ellipse">
            <a:avLst/>
          </a:prstGeom>
          <a:solidFill>
            <a:srgbClr val="1E3E2F"/>
          </a:solidFill>
          <a:ln w="12700">
            <a:solidFill>
              <a:srgbClr val="1E3E2F"/>
            </a:solidFill>
            <a:prstDash val="solid"/>
          </a:ln>
        </p:spPr>
      </p:sp>
      <p:sp>
        <p:nvSpPr>
          <p:cNvPr id="12" name="Text 10"/>
          <p:cNvSpPr txBox="1"/>
          <p:nvPr/>
        </p:nvSpPr>
        <p:spPr>
          <a:xfrm>
            <a:off x="4815688" y="26517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3" name="Text 11"/>
          <p:cNvSpPr txBox="1"/>
          <p:nvPr/>
        </p:nvSpPr>
        <p:spPr>
          <a:xfrm>
            <a:off x="5455768" y="2670048"/>
            <a:ext cx="1965960" cy="457200"/>
          </a:xfrm>
          <a:prstGeom prst="rect">
            <a:avLst/>
          </a:prstGeom>
          <a:noFill/>
          <a:ln/>
        </p:spPr>
        <p:txBody>
          <a:bodyPr wrap="square" lIns="0" tIns="0" rIns="0" bIns="0" rtlCol="0" anchor="ctr"/>
          <a:lstStyle/>
          <a:p>
            <a:pPr indent="0" marL="0">
              <a:buNone/>
            </a:pPr>
            <a:r>
              <a:rPr lang="en-US" sz="1600" b="1" dirty="0">
                <a:solidFill>
                  <a:schemeClr val="tx2"/>
                </a:solidFill>
              </a:rPr>
              <a:t>Runs</a:t>
            </a:r>
            <a:endParaRPr lang="en-US" sz="1600" dirty="0"/>
          </a:p>
        </p:txBody>
      </p:sp>
      <p:sp>
        <p:nvSpPr>
          <p:cNvPr id="14" name="Text 12"/>
          <p:cNvSpPr txBox="1"/>
          <p:nvPr/>
        </p:nvSpPr>
        <p:spPr>
          <a:xfrm>
            <a:off x="4815688" y="3337560"/>
            <a:ext cx="2560320" cy="1188720"/>
          </a:xfrm>
          <a:prstGeom prst="rect">
            <a:avLst/>
          </a:prstGeom>
          <a:noFill/>
          <a:ln/>
        </p:spPr>
        <p:txBody>
          <a:bodyPr wrap="square" lIns="0" tIns="0" rIns="0" bIns="0" rtlCol="0" anchor="t"/>
          <a:lstStyle/>
          <a:p>
            <a:pPr indent="0" marL="0">
              <a:buNone/>
            </a:pPr>
            <a:r>
              <a:rPr lang="en-US" sz="1300" dirty="0">
                <a:solidFill>
                  <a:schemeClr val="tx1"/>
                </a:solidFill>
              </a:rPr>
              <a:t>Direct nanopore sequencing with nanoCAS watching, same thresholds for every sample.</a:t>
            </a:r>
            <a:endParaRPr lang="en-US" sz="1300" dirty="0"/>
          </a:p>
        </p:txBody>
      </p:sp>
      <p:sp>
        <p:nvSpPr>
          <p:cNvPr id="15" name="Shape 13"/>
          <p:cNvSpPr/>
          <p:nvPr/>
        </p:nvSpPr>
        <p:spPr>
          <a:xfrm>
            <a:off x="7741768" y="3337560"/>
            <a:ext cx="228600" cy="320040"/>
          </a:xfrm>
          <a:prstGeom prst="rightArrow">
            <a:avLst/>
          </a:prstGeom>
          <a:solidFill>
            <a:srgbClr val="C9D6CD"/>
          </a:solidFill>
          <a:ln w="12700">
            <a:solidFill>
              <a:srgbClr val="C9D6CD"/>
            </a:solidFill>
            <a:prstDash val="solid"/>
          </a:ln>
        </p:spPr>
      </p:sp>
      <p:sp>
        <p:nvSpPr>
          <p:cNvPr id="16" name="Shape 14"/>
          <p:cNvSpPr/>
          <p:nvPr/>
        </p:nvSpPr>
        <p:spPr>
          <a:xfrm>
            <a:off x="8061808" y="2377440"/>
            <a:ext cx="3108960" cy="2286000"/>
          </a:xfrm>
          <a:prstGeom prst="roundRect">
            <a:avLst>
              <a:gd name="adj" fmla="val 3200"/>
            </a:avLst>
          </a:prstGeom>
          <a:solidFill>
            <a:srgbClr val="EEF2EF"/>
          </a:solidFill>
          <a:ln w="12700">
            <a:solidFill>
              <a:srgbClr val="EEF2EF"/>
            </a:solidFill>
            <a:prstDash val="solid"/>
          </a:ln>
        </p:spPr>
      </p:sp>
      <p:sp>
        <p:nvSpPr>
          <p:cNvPr id="17" name="Shape 15"/>
          <p:cNvSpPr/>
          <p:nvPr/>
        </p:nvSpPr>
        <p:spPr>
          <a:xfrm>
            <a:off x="8336128" y="2651760"/>
            <a:ext cx="502920" cy="502920"/>
          </a:xfrm>
          <a:prstGeom prst="ellipse">
            <a:avLst/>
          </a:prstGeom>
          <a:solidFill>
            <a:srgbClr val="1E3E2F"/>
          </a:solidFill>
          <a:ln w="12700">
            <a:solidFill>
              <a:srgbClr val="1E3E2F"/>
            </a:solidFill>
            <a:prstDash val="solid"/>
          </a:ln>
        </p:spPr>
      </p:sp>
      <p:sp>
        <p:nvSpPr>
          <p:cNvPr id="18" name="Text 16"/>
          <p:cNvSpPr txBox="1"/>
          <p:nvPr/>
        </p:nvSpPr>
        <p:spPr>
          <a:xfrm>
            <a:off x="8336128" y="26517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9" name="Text 17"/>
          <p:cNvSpPr txBox="1"/>
          <p:nvPr/>
        </p:nvSpPr>
        <p:spPr>
          <a:xfrm>
            <a:off x="8976208" y="2670048"/>
            <a:ext cx="1965960" cy="457200"/>
          </a:xfrm>
          <a:prstGeom prst="rect">
            <a:avLst/>
          </a:prstGeom>
          <a:noFill/>
          <a:ln/>
        </p:spPr>
        <p:txBody>
          <a:bodyPr wrap="square" lIns="0" tIns="0" rIns="0" bIns="0" rtlCol="0" anchor="ctr"/>
          <a:lstStyle/>
          <a:p>
            <a:pPr indent="0" marL="0">
              <a:buNone/>
            </a:pPr>
            <a:r>
              <a:rPr lang="en-US" sz="1600" b="1" dirty="0">
                <a:solidFill>
                  <a:schemeClr val="tx2"/>
                </a:solidFill>
              </a:rPr>
              <a:t>Compare</a:t>
            </a:r>
            <a:endParaRPr lang="en-US" sz="1600" dirty="0"/>
          </a:p>
        </p:txBody>
      </p:sp>
      <p:sp>
        <p:nvSpPr>
          <p:cNvPr id="20" name="Text 18"/>
          <p:cNvSpPr txBox="1"/>
          <p:nvPr/>
        </p:nvSpPr>
        <p:spPr>
          <a:xfrm>
            <a:off x="8336128" y="3337560"/>
            <a:ext cx="2560320" cy="1188720"/>
          </a:xfrm>
          <a:prstGeom prst="rect">
            <a:avLst/>
          </a:prstGeom>
          <a:noFill/>
          <a:ln/>
        </p:spPr>
        <p:txBody>
          <a:bodyPr wrap="square" lIns="0" tIns="0" rIns="0" bIns="0" rtlCol="0" anchor="t"/>
          <a:lstStyle/>
          <a:p>
            <a:pPr indent="0" marL="0">
              <a:buNone/>
            </a:pPr>
            <a:r>
              <a:rPr lang="en-US" sz="1300" dirty="0">
                <a:solidFill>
                  <a:schemeClr val="tx1"/>
                </a:solidFill>
              </a:rPr>
              <a:t>Time to first alert, depth and breadth, and read yield against the Ct of each sample.</a:t>
            </a:r>
            <a:endParaRPr lang="en-US" sz="1300" dirty="0"/>
          </a:p>
        </p:txBody>
      </p:sp>
      <p:sp>
        <p:nvSpPr>
          <p:cNvPr id="21" name="Shape 19"/>
          <p:cNvSpPr/>
          <p:nvPr/>
        </p:nvSpPr>
        <p:spPr>
          <a:xfrm>
            <a:off x="914400" y="4983480"/>
            <a:ext cx="10360152" cy="914400"/>
          </a:xfrm>
          <a:prstGeom prst="roundRect">
            <a:avLst>
              <a:gd name="adj" fmla="val 8000"/>
            </a:avLst>
          </a:prstGeom>
          <a:solidFill>
            <a:srgbClr val="FFFFFF"/>
          </a:solidFill>
          <a:ln w="12700">
            <a:solidFill>
              <a:srgbClr val="C9D6CD"/>
            </a:solidFill>
            <a:prstDash val="dash"/>
          </a:ln>
        </p:spPr>
      </p:sp>
      <p:sp>
        <p:nvSpPr>
          <p:cNvPr id="22" name="Text 20"/>
          <p:cNvSpPr txBox="1"/>
          <p:nvPr/>
        </p:nvSpPr>
        <p:spPr>
          <a:xfrm>
            <a:off x="1188720" y="5029200"/>
            <a:ext cx="8503920" cy="822960"/>
          </a:xfrm>
          <a:prstGeom prst="rect">
            <a:avLst/>
          </a:prstGeom>
          <a:noFill/>
          <a:ln/>
        </p:spPr>
        <p:txBody>
          <a:bodyPr wrap="square" lIns="0" tIns="0" rIns="0" bIns="0" rtlCol="0" anchor="ctr"/>
          <a:lstStyle/>
          <a:p>
            <a:pPr indent="0" marL="0">
              <a:buNone/>
            </a:pPr>
            <a:r>
              <a:rPr lang="en-US" sz="1500" i="1" dirty="0">
                <a:solidFill>
                  <a:schemeClr val="tx2"/>
                </a:solidFill>
              </a:rPr>
              <a:t>Which sequencing metric tracks the qPCR quantity best, and how early can a lab trust the alert?</a:t>
            </a:r>
            <a:endParaRPr lang="en-US" sz="1500" dirty="0"/>
          </a:p>
        </p:txBody>
      </p:sp>
      <p:sp>
        <p:nvSpPr>
          <p:cNvPr id="23" name="Shape 21"/>
          <p:cNvSpPr/>
          <p:nvPr/>
        </p:nvSpPr>
        <p:spPr>
          <a:xfrm>
            <a:off x="9829800" y="5257800"/>
            <a:ext cx="1234440" cy="365760"/>
          </a:xfrm>
          <a:prstGeom prst="roundRect">
            <a:avLst>
              <a:gd name="adj" fmla="val 20000"/>
            </a:avLst>
          </a:prstGeom>
          <a:solidFill>
            <a:srgbClr val="B5473A"/>
          </a:solidFill>
          <a:ln w="12700">
            <a:solidFill>
              <a:srgbClr val="B5473A"/>
            </a:solidFill>
            <a:prstDash val="solid"/>
          </a:ln>
        </p:spPr>
      </p:sp>
      <p:sp>
        <p:nvSpPr>
          <p:cNvPr id="24" name="Text 22"/>
          <p:cNvSpPr txBox="1"/>
          <p:nvPr/>
        </p:nvSpPr>
        <p:spPr>
          <a:xfrm>
            <a:off x="9829800" y="5257800"/>
            <a:ext cx="1234440" cy="365760"/>
          </a:xfrm>
          <a:prstGeom prst="rect">
            <a:avLst/>
          </a:prstGeom>
          <a:noFill/>
          <a:ln/>
        </p:spPr>
        <p:txBody>
          <a:bodyPr wrap="square" lIns="0" tIns="0" rIns="0" bIns="0" rtlCol="0" anchor="ctr"/>
          <a:lstStyle/>
          <a:p>
            <a:pPr algn="ctr" indent="0" marL="0">
              <a:buNone/>
            </a:pPr>
            <a:r>
              <a:rPr lang="en-US" sz="1100" b="1" dirty="0">
                <a:solidFill>
                  <a:srgbClr val="FFFFFF"/>
                </a:solidFill>
              </a:rPr>
              <a:t>in progress</a:t>
            </a:r>
            <a:endParaRPr lang="en-US" sz="1100" dirty="0"/>
          </a:p>
        </p:txBody>
      </p:sp>
      <p:sp>
        <p:nvSpPr>
          <p:cNvPr id="25" name="Slide Number Placeholder 0"/>
          <p:cNvSpPr>
            <a:spLocks noGrp="1"/>
          </p:cNvSpPr>
          <p:nvPr>
            <p:ph type="sldNum" sz="quarter" idx="4294967295"/>
          </p:nvPr>
        </p:nvSpPr>
        <p:spPr>
          <a:xfrm>
            <a:off x="11247120" y="59618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2" type="title" hasCustomPrompt="1"/>
          </p:nvPr>
        </p:nvSpPr>
        <p:spPr>
          <a:xfrm>
            <a:off x="822960" y="777240"/>
            <a:ext cx="10543032" cy="640080"/>
          </a:xfrm>
          <a:prstGeom prst="rect">
            <a:avLst/>
          </a:prstGeom>
          <a:noFill/>
          <a:ln/>
        </p:spPr>
        <p:txBody>
          <a:bodyPr wrap="square" lIns="0" tIns="0" rIns="0" bIns="0" rtlCol="0"/>
          <a:lstStyle/>
          <a:p>
            <a:pPr algn="ctr" indent="0" marL="0">
              <a:buNone/>
            </a:pPr>
            <a:r>
              <a:rPr lang="en-US" sz="2800" b="1" dirty="0">
                <a:solidFill>
                  <a:schemeClr val="tx1"/>
                </a:solidFill>
              </a:rPr>
              <a:t>Case study 2: an animal pathogen, a dilution series</a:t>
            </a:r>
            <a:endParaRPr lang="en-US" sz="2800" dirty="0"/>
          </a:p>
        </p:txBody>
      </p:sp>
      <p:sp>
        <p:nvSpPr>
          <p:cNvPr id="3" name="Text 1"/>
          <p:cNvSpPr txBox="1"/>
          <p:nvPr/>
        </p:nvSpPr>
        <p:spPr>
          <a:xfrm>
            <a:off x="914400" y="1554480"/>
            <a:ext cx="10360152" cy="548640"/>
          </a:xfrm>
          <a:prstGeom prst="rect">
            <a:avLst/>
          </a:prstGeom>
          <a:noFill/>
          <a:ln/>
        </p:spPr>
        <p:txBody>
          <a:bodyPr wrap="square" lIns="0" tIns="0" rIns="0" bIns="0" rtlCol="0" anchor="ctr"/>
          <a:lstStyle/>
          <a:p>
            <a:pPr algn="ctr" indent="0" marL="0">
              <a:buNone/>
            </a:pPr>
            <a:r>
              <a:rPr lang="en-US" sz="1500" b="1" i="1" dirty="0">
                <a:solidFill>
                  <a:schemeClr val="tx2"/>
                </a:solidFill>
              </a:rPr>
              <a:t>Brucella abortus</a:t>
            </a:r>
            <a:pPr algn="ctr" indent="0" marL="0">
              <a:buNone/>
            </a:pPr>
            <a:r>
              <a:rPr lang="en-US" sz="1500" dirty="0">
                <a:solidFill>
                  <a:schemeClr val="tx2"/>
                </a:solidFill>
              </a:rPr>
              <a:t>   ·   notifiable zoonosis, spiked into bovine DNA at decreasing levels, adaptive sampling on</a:t>
            </a:r>
            <a:endParaRPr lang="en-US" sz="1500" dirty="0"/>
          </a:p>
        </p:txBody>
      </p:sp>
      <p:sp>
        <p:nvSpPr>
          <p:cNvPr id="4" name="Shape 2"/>
          <p:cNvSpPr/>
          <p:nvPr/>
        </p:nvSpPr>
        <p:spPr>
          <a:xfrm>
            <a:off x="1020928" y="2377440"/>
            <a:ext cx="3108960" cy="2286000"/>
          </a:xfrm>
          <a:prstGeom prst="roundRect">
            <a:avLst>
              <a:gd name="adj" fmla="val 3200"/>
            </a:avLst>
          </a:prstGeom>
          <a:solidFill>
            <a:srgbClr val="EEF2EF"/>
          </a:solidFill>
          <a:ln w="12700">
            <a:solidFill>
              <a:srgbClr val="EEF2EF"/>
            </a:solidFill>
            <a:prstDash val="solid"/>
          </a:ln>
        </p:spPr>
      </p:sp>
      <p:sp>
        <p:nvSpPr>
          <p:cNvPr id="5" name="Shape 3"/>
          <p:cNvSpPr/>
          <p:nvPr/>
        </p:nvSpPr>
        <p:spPr>
          <a:xfrm>
            <a:off x="1295248" y="2651760"/>
            <a:ext cx="502920" cy="502920"/>
          </a:xfrm>
          <a:prstGeom prst="ellipse">
            <a:avLst/>
          </a:prstGeom>
          <a:solidFill>
            <a:srgbClr val="1E3E2F"/>
          </a:solidFill>
          <a:ln w="12700">
            <a:solidFill>
              <a:srgbClr val="1E3E2F"/>
            </a:solidFill>
            <a:prstDash val="solid"/>
          </a:ln>
        </p:spPr>
      </p:sp>
      <p:sp>
        <p:nvSpPr>
          <p:cNvPr id="6" name="Text 4"/>
          <p:cNvSpPr txBox="1"/>
          <p:nvPr/>
        </p:nvSpPr>
        <p:spPr>
          <a:xfrm>
            <a:off x="1295248" y="26517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Text 5"/>
          <p:cNvSpPr txBox="1"/>
          <p:nvPr/>
        </p:nvSpPr>
        <p:spPr>
          <a:xfrm>
            <a:off x="1935328" y="2670048"/>
            <a:ext cx="1965960" cy="457200"/>
          </a:xfrm>
          <a:prstGeom prst="rect">
            <a:avLst/>
          </a:prstGeom>
          <a:noFill/>
          <a:ln/>
        </p:spPr>
        <p:txBody>
          <a:bodyPr wrap="square" lIns="0" tIns="0" rIns="0" bIns="0" rtlCol="0" anchor="ctr"/>
          <a:lstStyle/>
          <a:p>
            <a:pPr indent="0" marL="0">
              <a:buNone/>
            </a:pPr>
            <a:r>
              <a:rPr lang="en-US" sz="1600" b="1" dirty="0">
                <a:solidFill>
                  <a:schemeClr val="tx2"/>
                </a:solidFill>
              </a:rPr>
              <a:t>Dilution series</a:t>
            </a:r>
            <a:endParaRPr lang="en-US" sz="1600" dirty="0"/>
          </a:p>
        </p:txBody>
      </p:sp>
      <p:sp>
        <p:nvSpPr>
          <p:cNvPr id="8" name="Text 6"/>
          <p:cNvSpPr txBox="1"/>
          <p:nvPr/>
        </p:nvSpPr>
        <p:spPr>
          <a:xfrm>
            <a:off x="1295248" y="3337560"/>
            <a:ext cx="2560320" cy="1188720"/>
          </a:xfrm>
          <a:prstGeom prst="rect">
            <a:avLst/>
          </a:prstGeom>
          <a:noFill/>
          <a:ln/>
        </p:spPr>
        <p:txBody>
          <a:bodyPr wrap="square" lIns="0" tIns="0" rIns="0" bIns="0" rtlCol="0" anchor="t"/>
          <a:lstStyle/>
          <a:p>
            <a:pPr indent="0" marL="0">
              <a:buNone/>
            </a:pPr>
            <a:r>
              <a:rPr lang="en-US" sz="1300" dirty="0">
                <a:solidFill>
                  <a:schemeClr val="tx1"/>
                </a:solidFill>
              </a:rPr>
              <a:t>B. abortus genomic DNA in a constant bovine background, from easy to find to very rare.</a:t>
            </a:r>
            <a:endParaRPr lang="en-US" sz="1300" dirty="0"/>
          </a:p>
        </p:txBody>
      </p:sp>
      <p:sp>
        <p:nvSpPr>
          <p:cNvPr id="9" name="Shape 7"/>
          <p:cNvSpPr/>
          <p:nvPr/>
        </p:nvSpPr>
        <p:spPr>
          <a:xfrm>
            <a:off x="4221328" y="3337560"/>
            <a:ext cx="228600" cy="320040"/>
          </a:xfrm>
          <a:prstGeom prst="rightArrow">
            <a:avLst/>
          </a:prstGeom>
          <a:solidFill>
            <a:srgbClr val="C9D6CD"/>
          </a:solidFill>
          <a:ln w="12700">
            <a:solidFill>
              <a:srgbClr val="C9D6CD"/>
            </a:solidFill>
            <a:prstDash val="solid"/>
          </a:ln>
        </p:spPr>
      </p:sp>
      <p:sp>
        <p:nvSpPr>
          <p:cNvPr id="10" name="Shape 8"/>
          <p:cNvSpPr/>
          <p:nvPr/>
        </p:nvSpPr>
        <p:spPr>
          <a:xfrm>
            <a:off x="4541368" y="2377440"/>
            <a:ext cx="3108960" cy="2286000"/>
          </a:xfrm>
          <a:prstGeom prst="roundRect">
            <a:avLst>
              <a:gd name="adj" fmla="val 3200"/>
            </a:avLst>
          </a:prstGeom>
          <a:solidFill>
            <a:srgbClr val="EEF2EF"/>
          </a:solidFill>
          <a:ln w="12700">
            <a:solidFill>
              <a:srgbClr val="EEF2EF"/>
            </a:solidFill>
            <a:prstDash val="solid"/>
          </a:ln>
        </p:spPr>
      </p:sp>
      <p:sp>
        <p:nvSpPr>
          <p:cNvPr id="11" name="Shape 9"/>
          <p:cNvSpPr/>
          <p:nvPr/>
        </p:nvSpPr>
        <p:spPr>
          <a:xfrm>
            <a:off x="4815688" y="2651760"/>
            <a:ext cx="502920" cy="502920"/>
          </a:xfrm>
          <a:prstGeom prst="ellipse">
            <a:avLst/>
          </a:prstGeom>
          <a:solidFill>
            <a:srgbClr val="1E3E2F"/>
          </a:solidFill>
          <a:ln w="12700">
            <a:solidFill>
              <a:srgbClr val="1E3E2F"/>
            </a:solidFill>
            <a:prstDash val="solid"/>
          </a:ln>
        </p:spPr>
      </p:sp>
      <p:sp>
        <p:nvSpPr>
          <p:cNvPr id="12" name="Text 10"/>
          <p:cNvSpPr txBox="1"/>
          <p:nvPr/>
        </p:nvSpPr>
        <p:spPr>
          <a:xfrm>
            <a:off x="4815688" y="26517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3" name="Text 11"/>
          <p:cNvSpPr txBox="1"/>
          <p:nvPr/>
        </p:nvSpPr>
        <p:spPr>
          <a:xfrm>
            <a:off x="5455768" y="2670048"/>
            <a:ext cx="1965960" cy="457200"/>
          </a:xfrm>
          <a:prstGeom prst="rect">
            <a:avLst/>
          </a:prstGeom>
          <a:noFill/>
          <a:ln/>
        </p:spPr>
        <p:txBody>
          <a:bodyPr wrap="square" lIns="0" tIns="0" rIns="0" bIns="0" rtlCol="0" anchor="ctr"/>
          <a:lstStyle/>
          <a:p>
            <a:pPr indent="0" marL="0">
              <a:buNone/>
            </a:pPr>
            <a:r>
              <a:rPr lang="en-US" sz="1600" b="1" dirty="0">
                <a:solidFill>
                  <a:schemeClr val="tx2"/>
                </a:solidFill>
              </a:rPr>
              <a:t>Runs</a:t>
            </a:r>
            <a:endParaRPr lang="en-US" sz="1600" dirty="0"/>
          </a:p>
        </p:txBody>
      </p:sp>
      <p:sp>
        <p:nvSpPr>
          <p:cNvPr id="14" name="Text 12"/>
          <p:cNvSpPr txBox="1"/>
          <p:nvPr/>
        </p:nvSpPr>
        <p:spPr>
          <a:xfrm>
            <a:off x="4815688" y="3337560"/>
            <a:ext cx="2560320" cy="1188720"/>
          </a:xfrm>
          <a:prstGeom prst="rect">
            <a:avLst/>
          </a:prstGeom>
          <a:noFill/>
          <a:ln/>
        </p:spPr>
        <p:txBody>
          <a:bodyPr wrap="square" lIns="0" tIns="0" rIns="0" bIns="0" rtlCol="0" anchor="t"/>
          <a:lstStyle/>
          <a:p>
            <a:pPr indent="0" marL="0">
              <a:buNone/>
            </a:pPr>
            <a:r>
              <a:rPr lang="en-US" sz="1300" dirty="0">
                <a:solidFill>
                  <a:schemeClr val="tx1"/>
                </a:solidFill>
              </a:rPr>
              <a:t>30 minutes of plain sequencing as a baseline, then three days with adaptive sampling enriching the pathogen genome.</a:t>
            </a:r>
            <a:endParaRPr lang="en-US" sz="1300" dirty="0"/>
          </a:p>
        </p:txBody>
      </p:sp>
      <p:sp>
        <p:nvSpPr>
          <p:cNvPr id="15" name="Shape 13"/>
          <p:cNvSpPr/>
          <p:nvPr/>
        </p:nvSpPr>
        <p:spPr>
          <a:xfrm>
            <a:off x="7741768" y="3337560"/>
            <a:ext cx="228600" cy="320040"/>
          </a:xfrm>
          <a:prstGeom prst="rightArrow">
            <a:avLst/>
          </a:prstGeom>
          <a:solidFill>
            <a:srgbClr val="C9D6CD"/>
          </a:solidFill>
          <a:ln w="12700">
            <a:solidFill>
              <a:srgbClr val="C9D6CD"/>
            </a:solidFill>
            <a:prstDash val="solid"/>
          </a:ln>
        </p:spPr>
      </p:sp>
      <p:sp>
        <p:nvSpPr>
          <p:cNvPr id="16" name="Shape 14"/>
          <p:cNvSpPr/>
          <p:nvPr/>
        </p:nvSpPr>
        <p:spPr>
          <a:xfrm>
            <a:off x="8061808" y="2377440"/>
            <a:ext cx="3108960" cy="2286000"/>
          </a:xfrm>
          <a:prstGeom prst="roundRect">
            <a:avLst>
              <a:gd name="adj" fmla="val 3200"/>
            </a:avLst>
          </a:prstGeom>
          <a:solidFill>
            <a:srgbClr val="EEF2EF"/>
          </a:solidFill>
          <a:ln w="12700">
            <a:solidFill>
              <a:srgbClr val="EEF2EF"/>
            </a:solidFill>
            <a:prstDash val="solid"/>
          </a:ln>
        </p:spPr>
      </p:sp>
      <p:sp>
        <p:nvSpPr>
          <p:cNvPr id="17" name="Shape 15"/>
          <p:cNvSpPr/>
          <p:nvPr/>
        </p:nvSpPr>
        <p:spPr>
          <a:xfrm>
            <a:off x="8336128" y="2651760"/>
            <a:ext cx="502920" cy="502920"/>
          </a:xfrm>
          <a:prstGeom prst="ellipse">
            <a:avLst/>
          </a:prstGeom>
          <a:solidFill>
            <a:srgbClr val="1E3E2F"/>
          </a:solidFill>
          <a:ln w="12700">
            <a:solidFill>
              <a:srgbClr val="1E3E2F"/>
            </a:solidFill>
            <a:prstDash val="solid"/>
          </a:ln>
        </p:spPr>
      </p:sp>
      <p:sp>
        <p:nvSpPr>
          <p:cNvPr id="18" name="Text 16"/>
          <p:cNvSpPr txBox="1"/>
          <p:nvPr/>
        </p:nvSpPr>
        <p:spPr>
          <a:xfrm>
            <a:off x="8336128" y="26517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9" name="Text 17"/>
          <p:cNvSpPr txBox="1"/>
          <p:nvPr/>
        </p:nvSpPr>
        <p:spPr>
          <a:xfrm>
            <a:off x="8976208" y="2670048"/>
            <a:ext cx="1965960" cy="457200"/>
          </a:xfrm>
          <a:prstGeom prst="rect">
            <a:avLst/>
          </a:prstGeom>
          <a:noFill/>
          <a:ln/>
        </p:spPr>
        <p:txBody>
          <a:bodyPr wrap="square" lIns="0" tIns="0" rIns="0" bIns="0" rtlCol="0" anchor="ctr"/>
          <a:lstStyle/>
          <a:p>
            <a:pPr indent="0" marL="0">
              <a:buNone/>
            </a:pPr>
            <a:r>
              <a:rPr lang="en-US" sz="1600" b="1" dirty="0">
                <a:solidFill>
                  <a:schemeClr val="tx2"/>
                </a:solidFill>
              </a:rPr>
              <a:t>Compare</a:t>
            </a:r>
            <a:endParaRPr lang="en-US" sz="1600" dirty="0"/>
          </a:p>
        </p:txBody>
      </p:sp>
      <p:sp>
        <p:nvSpPr>
          <p:cNvPr id="20" name="Text 18"/>
          <p:cNvSpPr txBox="1"/>
          <p:nvPr/>
        </p:nvSpPr>
        <p:spPr>
          <a:xfrm>
            <a:off x="8336128" y="3337560"/>
            <a:ext cx="2560320" cy="1188720"/>
          </a:xfrm>
          <a:prstGeom prst="rect">
            <a:avLst/>
          </a:prstGeom>
          <a:noFill/>
          <a:ln/>
        </p:spPr>
        <p:txBody>
          <a:bodyPr wrap="square" lIns="0" tIns="0" rIns="0" bIns="0" rtlCol="0" anchor="t"/>
          <a:lstStyle/>
          <a:p>
            <a:pPr indent="0" marL="0">
              <a:buNone/>
            </a:pPr>
            <a:r>
              <a:rPr lang="en-US" sz="1300" dirty="0">
                <a:solidFill>
                  <a:schemeClr val="tx1"/>
                </a:solidFill>
              </a:rPr>
              <a:t>How far down the series an alert still fires, how much sooner with enrichment, and what the instrument rules caught over three days.</a:t>
            </a:r>
            <a:endParaRPr lang="en-US" sz="1300" dirty="0"/>
          </a:p>
        </p:txBody>
      </p:sp>
      <p:sp>
        <p:nvSpPr>
          <p:cNvPr id="21" name="Shape 19"/>
          <p:cNvSpPr/>
          <p:nvPr/>
        </p:nvSpPr>
        <p:spPr>
          <a:xfrm>
            <a:off x="914400" y="4983480"/>
            <a:ext cx="10360152" cy="914400"/>
          </a:xfrm>
          <a:prstGeom prst="roundRect">
            <a:avLst>
              <a:gd name="adj" fmla="val 8000"/>
            </a:avLst>
          </a:prstGeom>
          <a:solidFill>
            <a:srgbClr val="FFFFFF"/>
          </a:solidFill>
          <a:ln w="12700">
            <a:solidFill>
              <a:srgbClr val="C9D6CD"/>
            </a:solidFill>
            <a:prstDash val="dash"/>
          </a:ln>
        </p:spPr>
      </p:sp>
      <p:sp>
        <p:nvSpPr>
          <p:cNvPr id="22" name="Text 20"/>
          <p:cNvSpPr txBox="1"/>
          <p:nvPr/>
        </p:nvSpPr>
        <p:spPr>
          <a:xfrm>
            <a:off x="1188720" y="5029200"/>
            <a:ext cx="8503920" cy="822960"/>
          </a:xfrm>
          <a:prstGeom prst="rect">
            <a:avLst/>
          </a:prstGeom>
          <a:noFill/>
          <a:ln/>
        </p:spPr>
        <p:txBody>
          <a:bodyPr wrap="square" lIns="0" tIns="0" rIns="0" bIns="0" rtlCol="0" anchor="ctr"/>
          <a:lstStyle/>
          <a:p>
            <a:pPr indent="0" marL="0">
              <a:buNone/>
            </a:pPr>
            <a:r>
              <a:rPr lang="en-US" sz="1500" i="1" dirty="0">
                <a:solidFill>
                  <a:schemeClr val="tx2"/>
                </a:solidFill>
              </a:rPr>
              <a:t>How rare can the target be before real-time detection is no longer real time?</a:t>
            </a:r>
            <a:endParaRPr lang="en-US" sz="1500" dirty="0"/>
          </a:p>
        </p:txBody>
      </p:sp>
      <p:sp>
        <p:nvSpPr>
          <p:cNvPr id="23" name="Shape 21"/>
          <p:cNvSpPr/>
          <p:nvPr/>
        </p:nvSpPr>
        <p:spPr>
          <a:xfrm>
            <a:off x="9829800" y="5257800"/>
            <a:ext cx="1234440" cy="365760"/>
          </a:xfrm>
          <a:prstGeom prst="roundRect">
            <a:avLst>
              <a:gd name="adj" fmla="val 20000"/>
            </a:avLst>
          </a:prstGeom>
          <a:solidFill>
            <a:srgbClr val="B5473A"/>
          </a:solidFill>
          <a:ln w="12700">
            <a:solidFill>
              <a:srgbClr val="B5473A"/>
            </a:solidFill>
            <a:prstDash val="solid"/>
          </a:ln>
        </p:spPr>
      </p:sp>
      <p:sp>
        <p:nvSpPr>
          <p:cNvPr id="24" name="Text 22"/>
          <p:cNvSpPr txBox="1"/>
          <p:nvPr/>
        </p:nvSpPr>
        <p:spPr>
          <a:xfrm>
            <a:off x="9829800" y="5257800"/>
            <a:ext cx="1234440" cy="365760"/>
          </a:xfrm>
          <a:prstGeom prst="rect">
            <a:avLst/>
          </a:prstGeom>
          <a:noFill/>
          <a:ln/>
        </p:spPr>
        <p:txBody>
          <a:bodyPr wrap="square" lIns="0" tIns="0" rIns="0" bIns="0" rtlCol="0" anchor="ctr"/>
          <a:lstStyle/>
          <a:p>
            <a:pPr algn="ctr" indent="0" marL="0">
              <a:buNone/>
            </a:pPr>
            <a:r>
              <a:rPr lang="en-US" sz="1100" b="1" dirty="0">
                <a:solidFill>
                  <a:srgbClr val="FFFFFF"/>
                </a:solidFill>
              </a:rPr>
              <a:t>in progress</a:t>
            </a:r>
            <a:endParaRPr lang="en-US" sz="1100" dirty="0"/>
          </a:p>
        </p:txBody>
      </p:sp>
      <p:sp>
        <p:nvSpPr>
          <p:cNvPr id="25" name="Slide Number Placeholder 0"/>
          <p:cNvSpPr>
            <a:spLocks noGrp="1"/>
          </p:cNvSpPr>
          <p:nvPr>
            <p:ph type="sldNum" sz="quarter" idx="4294967295"/>
          </p:nvPr>
        </p:nvSpPr>
        <p:spPr>
          <a:xfrm>
            <a:off x="11247120" y="59618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2" type="title" hasCustomPrompt="1"/>
          </p:nvPr>
        </p:nvSpPr>
        <p:spPr>
          <a:xfrm>
            <a:off x="822960" y="777240"/>
            <a:ext cx="10543032" cy="640080"/>
          </a:xfrm>
          <a:prstGeom prst="rect">
            <a:avLst/>
          </a:prstGeom>
          <a:noFill/>
          <a:ln/>
        </p:spPr>
        <p:txBody>
          <a:bodyPr wrap="square" lIns="0" tIns="0" rIns="0" bIns="0" rtlCol="0"/>
          <a:lstStyle/>
          <a:p>
            <a:pPr algn="ctr" indent="0" marL="0">
              <a:buNone/>
            </a:pPr>
            <a:r>
              <a:rPr lang="en-US" sz="2800" b="1" dirty="0">
                <a:solidFill>
                  <a:schemeClr val="tx1"/>
                </a:solidFill>
              </a:rPr>
              <a:t>Try it this afternoon, without a sequencer</a:t>
            </a:r>
            <a:endParaRPr lang="en-US" sz="2800" dirty="0"/>
          </a:p>
        </p:txBody>
      </p:sp>
      <p:sp>
        <p:nvSpPr>
          <p:cNvPr id="3" name="Shape 1"/>
          <p:cNvSpPr/>
          <p:nvPr/>
        </p:nvSpPr>
        <p:spPr>
          <a:xfrm>
            <a:off x="914400" y="1783080"/>
            <a:ext cx="457200" cy="457200"/>
          </a:xfrm>
          <a:prstGeom prst="ellipse">
            <a:avLst/>
          </a:prstGeom>
          <a:solidFill>
            <a:srgbClr val="1E3E2F"/>
          </a:solidFill>
          <a:ln w="12700">
            <a:solidFill>
              <a:srgbClr val="1E3E2F"/>
            </a:solidFill>
            <a:prstDash val="solid"/>
          </a:ln>
        </p:spPr>
      </p:sp>
      <p:sp>
        <p:nvSpPr>
          <p:cNvPr id="4" name="Text 2"/>
          <p:cNvSpPr txBox="1"/>
          <p:nvPr/>
        </p:nvSpPr>
        <p:spPr>
          <a:xfrm>
            <a:off x="914400" y="17830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5" name="Text 3"/>
          <p:cNvSpPr txBox="1"/>
          <p:nvPr/>
        </p:nvSpPr>
        <p:spPr>
          <a:xfrm>
            <a:off x="1554480" y="1737360"/>
            <a:ext cx="6035040" cy="411480"/>
          </a:xfrm>
          <a:prstGeom prst="rect">
            <a:avLst/>
          </a:prstGeom>
          <a:noFill/>
          <a:ln/>
        </p:spPr>
        <p:txBody>
          <a:bodyPr wrap="square" lIns="0" tIns="0" rIns="0" bIns="0" rtlCol="0" anchor="ctr"/>
          <a:lstStyle/>
          <a:p>
            <a:pPr indent="0" marL="0">
              <a:buNone/>
            </a:pPr>
            <a:r>
              <a:rPr lang="en-US" sz="1700" b="1" dirty="0">
                <a:solidFill>
                  <a:schemeClr val="tx2"/>
                </a:solidFill>
              </a:rPr>
              <a:t>Built-in simulator</a:t>
            </a:r>
            <a:endParaRPr lang="en-US" sz="1700" dirty="0"/>
          </a:p>
        </p:txBody>
      </p:sp>
      <p:sp>
        <p:nvSpPr>
          <p:cNvPr id="6" name="Text 4"/>
          <p:cNvSpPr txBox="1"/>
          <p:nvPr/>
        </p:nvSpPr>
        <p:spPr>
          <a:xfrm>
            <a:off x="1554480" y="2194560"/>
            <a:ext cx="6035040" cy="731520"/>
          </a:xfrm>
          <a:prstGeom prst="rect">
            <a:avLst/>
          </a:prstGeom>
          <a:noFill/>
          <a:ln/>
        </p:spPr>
        <p:txBody>
          <a:bodyPr wrap="square" lIns="0" tIns="0" rIns="0" bIns="0" rtlCol="0" anchor="t"/>
          <a:lstStyle/>
          <a:p>
            <a:pPr indent="0" marL="0">
              <a:buNone/>
            </a:pPr>
            <a:r>
              <a:rPr lang="en-US" sz="1300" dirty="0">
                <a:solidFill>
                  <a:schemeClr val="tx1"/>
                </a:solidFill>
              </a:rPr>
              <a:t>Writes FASTQ batches and a sequencing summary the way MinKNOW does. Six scenarios: clean run, contamination, rare pathogen, failing flow cell, stalled run, run that never starts.</a:t>
            </a:r>
            <a:endParaRPr lang="en-US" sz="1300" dirty="0"/>
          </a:p>
        </p:txBody>
      </p:sp>
      <p:sp>
        <p:nvSpPr>
          <p:cNvPr id="7" name="Shape 5"/>
          <p:cNvSpPr/>
          <p:nvPr/>
        </p:nvSpPr>
        <p:spPr>
          <a:xfrm>
            <a:off x="914400" y="3017520"/>
            <a:ext cx="457200" cy="457200"/>
          </a:xfrm>
          <a:prstGeom prst="ellipse">
            <a:avLst/>
          </a:prstGeom>
          <a:solidFill>
            <a:srgbClr val="1E3E2F"/>
          </a:solidFill>
          <a:ln w="12700">
            <a:solidFill>
              <a:srgbClr val="1E3E2F"/>
            </a:solidFill>
            <a:prstDash val="solid"/>
          </a:ln>
        </p:spPr>
      </p:sp>
      <p:sp>
        <p:nvSpPr>
          <p:cNvPr id="8" name="Text 6"/>
          <p:cNvSpPr txBox="1"/>
          <p:nvPr/>
        </p:nvSpPr>
        <p:spPr>
          <a:xfrm>
            <a:off x="914400" y="30175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9" name="Text 7"/>
          <p:cNvSpPr txBox="1"/>
          <p:nvPr/>
        </p:nvSpPr>
        <p:spPr>
          <a:xfrm>
            <a:off x="1554480" y="2971800"/>
            <a:ext cx="6035040" cy="411480"/>
          </a:xfrm>
          <a:prstGeom prst="rect">
            <a:avLst/>
          </a:prstGeom>
          <a:noFill/>
          <a:ln/>
        </p:spPr>
        <p:txBody>
          <a:bodyPr wrap="square" lIns="0" tIns="0" rIns="0" bIns="0" rtlCol="0" anchor="ctr"/>
          <a:lstStyle/>
          <a:p>
            <a:pPr indent="0" marL="0">
              <a:buNone/>
            </a:pPr>
            <a:r>
              <a:rPr lang="en-US" sz="1700" b="1" dirty="0">
                <a:solidFill>
                  <a:schemeClr val="tx2"/>
                </a:solidFill>
              </a:rPr>
              <a:t>One-click demo projects</a:t>
            </a:r>
            <a:endParaRPr lang="en-US" sz="1700" dirty="0"/>
          </a:p>
        </p:txBody>
      </p:sp>
      <p:sp>
        <p:nvSpPr>
          <p:cNvPr id="10" name="Text 8"/>
          <p:cNvSpPr txBox="1"/>
          <p:nvPr/>
        </p:nvSpPr>
        <p:spPr>
          <a:xfrm>
            <a:off x="1554480" y="3429000"/>
            <a:ext cx="6035040" cy="731520"/>
          </a:xfrm>
          <a:prstGeom prst="rect">
            <a:avLst/>
          </a:prstGeom>
          <a:noFill/>
          <a:ln/>
        </p:spPr>
        <p:txBody>
          <a:bodyPr wrap="square" lIns="0" tIns="0" rIns="0" bIns="0" rtlCol="0" anchor="t"/>
          <a:lstStyle/>
          <a:p>
            <a:pPr indent="0" marL="0">
              <a:buNone/>
            </a:pPr>
            <a:r>
              <a:rPr lang="en-US" sz="1300" dirty="0">
                <a:solidFill>
                  <a:schemeClr val="tx1"/>
                </a:solidFill>
              </a:rPr>
              <a:t>Every screen you saw today, including the alerts, the run-health rules and the qPCR comparison, populated on a laptop in a minute.</a:t>
            </a:r>
            <a:endParaRPr lang="en-US" sz="1300" dirty="0"/>
          </a:p>
        </p:txBody>
      </p:sp>
      <p:sp>
        <p:nvSpPr>
          <p:cNvPr id="11" name="Shape 9"/>
          <p:cNvSpPr/>
          <p:nvPr/>
        </p:nvSpPr>
        <p:spPr>
          <a:xfrm>
            <a:off x="914400" y="4251960"/>
            <a:ext cx="457200" cy="457200"/>
          </a:xfrm>
          <a:prstGeom prst="ellipse">
            <a:avLst/>
          </a:prstGeom>
          <a:solidFill>
            <a:srgbClr val="1E3E2F"/>
          </a:solidFill>
          <a:ln w="12700">
            <a:solidFill>
              <a:srgbClr val="1E3E2F"/>
            </a:solidFill>
            <a:prstDash val="solid"/>
          </a:ln>
        </p:spPr>
      </p:sp>
      <p:sp>
        <p:nvSpPr>
          <p:cNvPr id="12" name="Text 10"/>
          <p:cNvSpPr txBox="1"/>
          <p:nvPr/>
        </p:nvSpPr>
        <p:spPr>
          <a:xfrm>
            <a:off x="914400" y="4251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3" name="Text 11"/>
          <p:cNvSpPr txBox="1"/>
          <p:nvPr/>
        </p:nvSpPr>
        <p:spPr>
          <a:xfrm>
            <a:off x="1554480" y="4206240"/>
            <a:ext cx="6035040" cy="411480"/>
          </a:xfrm>
          <a:prstGeom prst="rect">
            <a:avLst/>
          </a:prstGeom>
          <a:noFill/>
          <a:ln/>
        </p:spPr>
        <p:txBody>
          <a:bodyPr wrap="square" lIns="0" tIns="0" rIns="0" bIns="0" rtlCol="0" anchor="ctr"/>
          <a:lstStyle/>
          <a:p>
            <a:pPr indent="0" marL="0">
              <a:buNone/>
            </a:pPr>
            <a:r>
              <a:rPr lang="en-US" sz="1700" b="1" dirty="0">
                <a:solidFill>
                  <a:schemeClr val="tx2"/>
                </a:solidFill>
              </a:rPr>
              <a:t>Open source</a:t>
            </a:r>
            <a:endParaRPr lang="en-US" sz="1700" dirty="0"/>
          </a:p>
        </p:txBody>
      </p:sp>
      <p:sp>
        <p:nvSpPr>
          <p:cNvPr id="14" name="Text 12"/>
          <p:cNvSpPr txBox="1"/>
          <p:nvPr/>
        </p:nvSpPr>
        <p:spPr>
          <a:xfrm>
            <a:off x="1554480" y="4663440"/>
            <a:ext cx="6035040" cy="731520"/>
          </a:xfrm>
          <a:prstGeom prst="rect">
            <a:avLst/>
          </a:prstGeom>
          <a:noFill/>
          <a:ln/>
        </p:spPr>
        <p:txBody>
          <a:bodyPr wrap="square" lIns="0" tIns="0" rIns="0" bIns="0" rtlCol="0" anchor="t"/>
          <a:lstStyle/>
          <a:p>
            <a:pPr indent="0" marL="0">
              <a:buNone/>
            </a:pPr>
            <a:r>
              <a:rPr lang="en-US" sz="1300" dirty="0">
                <a:solidFill>
                  <a:schemeClr val="tx1"/>
                </a:solidFill>
              </a:rPr>
              <a:t>Python and React, one process, runs on Linux and macOS. 123 automated tests. Plug in your own classifier with a short Python class.</a:t>
            </a:r>
            <a:endParaRPr lang="en-US" sz="1300" dirty="0"/>
          </a:p>
        </p:txBody>
      </p:sp>
      <p:pic>
        <p:nvPicPr>
          <p:cNvPr id="15" name="Image 0" descr="/tmp/claude-0/-home-user-nanoCAS/2df442f6-a263-52d2-9b94-5a00d02710a2/scratchpad/deck/assets/qr_github.png">    </p:cNvPr>
          <p:cNvPicPr>
            <a:picLocks noChangeAspect="1"/>
          </p:cNvPicPr>
          <p:nvPr/>
        </p:nvPicPr>
        <p:blipFill>
          <a:blip r:embed="rId1"/>
          <a:stretch>
            <a:fillRect/>
          </a:stretch>
        </p:blipFill>
        <p:spPr>
          <a:xfrm>
            <a:off x="8595360" y="1828800"/>
            <a:ext cx="2377440" cy="2377440"/>
          </a:xfrm>
          <a:prstGeom prst="rect">
            <a:avLst/>
          </a:prstGeom>
        </p:spPr>
      </p:pic>
      <p:sp>
        <p:nvSpPr>
          <p:cNvPr id="16" name="Text 13"/>
          <p:cNvSpPr txBox="1"/>
          <p:nvPr/>
        </p:nvSpPr>
        <p:spPr>
          <a:xfrm>
            <a:off x="7955280" y="4297680"/>
            <a:ext cx="3657600" cy="365760"/>
          </a:xfrm>
          <a:prstGeom prst="rect">
            <a:avLst/>
          </a:prstGeom>
          <a:noFill/>
          <a:ln/>
        </p:spPr>
        <p:txBody>
          <a:bodyPr wrap="square" lIns="0" tIns="0" rIns="0" bIns="0" rtlCol="0" anchor="ctr"/>
          <a:lstStyle/>
          <a:p>
            <a:pPr algn="ctr" indent="0" marL="0">
              <a:buNone/>
            </a:pPr>
            <a:r>
              <a:rPr lang="en-US" sz="1300" b="1" dirty="0">
                <a:solidFill>
                  <a:schemeClr val="tx2"/>
                </a:solidFill>
              </a:rPr>
              <a:t>github.com/tayabsoomro/nanoCAS</a:t>
            </a:r>
            <a:endParaRPr lang="en-US" sz="1300" dirty="0"/>
          </a:p>
        </p:txBody>
      </p:sp>
      <p:sp>
        <p:nvSpPr>
          <p:cNvPr id="25" name="Slide Number Placeholder 0"/>
          <p:cNvSpPr>
            <a:spLocks noGrp="1"/>
          </p:cNvSpPr>
          <p:nvPr>
            <p:ph type="sldNum" sz="quarter" idx="4294967295"/>
          </p:nvPr>
        </p:nvSpPr>
        <p:spPr>
          <a:xfrm>
            <a:off x="11247120" y="59618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2" type="title" hasCustomPrompt="1"/>
          </p:nvPr>
        </p:nvSpPr>
        <p:spPr>
          <a:xfrm>
            <a:off x="822960" y="777240"/>
            <a:ext cx="10543032" cy="640080"/>
          </a:xfrm>
          <a:prstGeom prst="rect">
            <a:avLst/>
          </a:prstGeom>
          <a:noFill/>
          <a:ln/>
        </p:spPr>
        <p:txBody>
          <a:bodyPr wrap="square" lIns="0" tIns="0" rIns="0" bIns="0" rtlCol="0"/>
          <a:lstStyle/>
          <a:p>
            <a:pPr algn="ctr" indent="0" marL="0">
              <a:buNone/>
            </a:pPr>
            <a:r>
              <a:rPr lang="en-US" sz="2800" b="1" dirty="0">
                <a:solidFill>
                  <a:schemeClr val="tx1"/>
                </a:solidFill>
              </a:rPr>
              <a:t>What we would like to explore together</a:t>
            </a:r>
            <a:endParaRPr lang="en-US" sz="2800" dirty="0"/>
          </a:p>
        </p:txBody>
      </p:sp>
      <p:sp>
        <p:nvSpPr>
          <p:cNvPr id="3" name="Shape 1"/>
          <p:cNvSpPr/>
          <p:nvPr/>
        </p:nvSpPr>
        <p:spPr>
          <a:xfrm>
            <a:off x="860908" y="1691640"/>
            <a:ext cx="5029200" cy="1600200"/>
          </a:xfrm>
          <a:prstGeom prst="roundRect">
            <a:avLst>
              <a:gd name="adj" fmla="val 4571"/>
            </a:avLst>
          </a:prstGeom>
          <a:solidFill>
            <a:srgbClr val="EEF2EF"/>
          </a:solidFill>
          <a:ln w="12700">
            <a:solidFill>
              <a:srgbClr val="EEF2EF"/>
            </a:solidFill>
            <a:prstDash val="solid"/>
          </a:ln>
        </p:spPr>
      </p:sp>
      <p:sp>
        <p:nvSpPr>
          <p:cNvPr id="4" name="Shape 2"/>
          <p:cNvSpPr/>
          <p:nvPr/>
        </p:nvSpPr>
        <p:spPr>
          <a:xfrm>
            <a:off x="1135228" y="1965960"/>
            <a:ext cx="640080" cy="640080"/>
          </a:xfrm>
          <a:prstGeom prst="ellipse">
            <a:avLst/>
          </a:prstGeom>
          <a:solidFill>
            <a:srgbClr val="FFFFFF"/>
          </a:solidFill>
          <a:ln w="12700">
            <a:solidFill>
              <a:srgbClr val="FFFFFF"/>
            </a:solidFill>
            <a:prstDash val="solid"/>
          </a:ln>
        </p:spPr>
      </p:sp>
      <p:pic>
        <p:nvPicPr>
          <p:cNvPr id="5" name="Image 0" descr="preencoded.png">    </p:cNvPr>
          <p:cNvPicPr>
            <a:picLocks noChangeAspect="1"/>
          </p:cNvPicPr>
          <p:nvPr/>
        </p:nvPicPr>
        <p:blipFill>
          <a:blip r:embed="rId1"/>
          <a:stretch>
            <a:fillRect/>
          </a:stretch>
        </p:blipFill>
        <p:spPr>
          <a:xfrm>
            <a:off x="1281532" y="2112264"/>
            <a:ext cx="347472" cy="347472"/>
          </a:xfrm>
          <a:prstGeom prst="rect">
            <a:avLst/>
          </a:prstGeom>
        </p:spPr>
      </p:pic>
      <p:sp>
        <p:nvSpPr>
          <p:cNvPr id="6" name="Text 3"/>
          <p:cNvSpPr txBox="1"/>
          <p:nvPr/>
        </p:nvSpPr>
        <p:spPr>
          <a:xfrm>
            <a:off x="1958188" y="1920240"/>
            <a:ext cx="3703320" cy="411480"/>
          </a:xfrm>
          <a:prstGeom prst="rect">
            <a:avLst/>
          </a:prstGeom>
          <a:noFill/>
          <a:ln/>
        </p:spPr>
        <p:txBody>
          <a:bodyPr wrap="square" lIns="0" tIns="0" rIns="0" bIns="0" rtlCol="0" anchor="ctr"/>
          <a:lstStyle/>
          <a:p>
            <a:pPr indent="0" marL="0">
              <a:buNone/>
            </a:pPr>
            <a:r>
              <a:rPr lang="en-US" sz="1600" b="1" dirty="0">
                <a:solidFill>
                  <a:schemeClr val="tx2"/>
                </a:solidFill>
              </a:rPr>
              <a:t>Validation on your samples</a:t>
            </a:r>
            <a:endParaRPr lang="en-US" sz="1600" dirty="0"/>
          </a:p>
        </p:txBody>
      </p:sp>
      <p:sp>
        <p:nvSpPr>
          <p:cNvPr id="7" name="Text 4"/>
          <p:cNvSpPr txBox="1"/>
          <p:nvPr/>
        </p:nvSpPr>
        <p:spPr>
          <a:xfrm>
            <a:off x="1958188" y="2350008"/>
            <a:ext cx="3703320" cy="868680"/>
          </a:xfrm>
          <a:prstGeom prst="rect">
            <a:avLst/>
          </a:prstGeom>
          <a:noFill/>
          <a:ln/>
        </p:spPr>
        <p:txBody>
          <a:bodyPr wrap="square" lIns="0" tIns="0" rIns="0" bIns="0" rtlCol="0" anchor="t"/>
          <a:lstStyle/>
          <a:p>
            <a:pPr indent="0" marL="0">
              <a:buNone/>
            </a:pPr>
            <a:r>
              <a:rPr lang="en-US" sz="1300" dirty="0">
                <a:solidFill>
                  <a:schemeClr val="tx1"/>
                </a:solidFill>
              </a:rPr>
              <a:t>Run nanoCAS beside your qPCR on the organisms you regulate, and compare Ct against time to alert.</a:t>
            </a:r>
            <a:endParaRPr lang="en-US" sz="1300" dirty="0"/>
          </a:p>
        </p:txBody>
      </p:sp>
      <p:sp>
        <p:nvSpPr>
          <p:cNvPr id="8" name="Shape 5"/>
          <p:cNvSpPr/>
          <p:nvPr/>
        </p:nvSpPr>
        <p:spPr>
          <a:xfrm>
            <a:off x="6301588" y="1691640"/>
            <a:ext cx="5029200" cy="1600200"/>
          </a:xfrm>
          <a:prstGeom prst="roundRect">
            <a:avLst>
              <a:gd name="adj" fmla="val 4571"/>
            </a:avLst>
          </a:prstGeom>
          <a:solidFill>
            <a:srgbClr val="EEF2EF"/>
          </a:solidFill>
          <a:ln w="12700">
            <a:solidFill>
              <a:srgbClr val="EEF2EF"/>
            </a:solidFill>
            <a:prstDash val="solid"/>
          </a:ln>
        </p:spPr>
      </p:sp>
      <p:sp>
        <p:nvSpPr>
          <p:cNvPr id="9" name="Shape 6"/>
          <p:cNvSpPr/>
          <p:nvPr/>
        </p:nvSpPr>
        <p:spPr>
          <a:xfrm>
            <a:off x="6575908" y="1965960"/>
            <a:ext cx="640080" cy="640080"/>
          </a:xfrm>
          <a:prstGeom prst="ellipse">
            <a:avLst/>
          </a:prstGeom>
          <a:solidFill>
            <a:srgbClr val="FFFFFF"/>
          </a:solidFill>
          <a:ln w="12700">
            <a:solidFill>
              <a:srgbClr val="FFFFFF"/>
            </a:solidFill>
            <a:prstDash val="solid"/>
          </a:ln>
        </p:spPr>
      </p:sp>
      <p:pic>
        <p:nvPicPr>
          <p:cNvPr id="10" name="Image 1" descr="preencoded.png">    </p:cNvPr>
          <p:cNvPicPr>
            <a:picLocks noChangeAspect="1"/>
          </p:cNvPicPr>
          <p:nvPr/>
        </p:nvPicPr>
        <p:blipFill>
          <a:blip r:embed="rId2"/>
          <a:stretch>
            <a:fillRect/>
          </a:stretch>
        </p:blipFill>
        <p:spPr>
          <a:xfrm>
            <a:off x="6722212" y="2112264"/>
            <a:ext cx="347472" cy="347472"/>
          </a:xfrm>
          <a:prstGeom prst="rect">
            <a:avLst/>
          </a:prstGeom>
        </p:spPr>
      </p:pic>
      <p:sp>
        <p:nvSpPr>
          <p:cNvPr id="11" name="Text 7"/>
          <p:cNvSpPr txBox="1"/>
          <p:nvPr/>
        </p:nvSpPr>
        <p:spPr>
          <a:xfrm>
            <a:off x="7398868" y="1920240"/>
            <a:ext cx="3703320" cy="411480"/>
          </a:xfrm>
          <a:prstGeom prst="rect">
            <a:avLst/>
          </a:prstGeom>
          <a:noFill/>
          <a:ln/>
        </p:spPr>
        <p:txBody>
          <a:bodyPr wrap="square" lIns="0" tIns="0" rIns="0" bIns="0" rtlCol="0" anchor="ctr"/>
          <a:lstStyle/>
          <a:p>
            <a:pPr indent="0" marL="0">
              <a:buNone/>
            </a:pPr>
            <a:r>
              <a:rPr lang="en-US" sz="1600" b="1" dirty="0">
                <a:solidFill>
                  <a:schemeClr val="tx2"/>
                </a:solidFill>
              </a:rPr>
              <a:t>Agreed thresholds</a:t>
            </a:r>
            <a:endParaRPr lang="en-US" sz="1600" dirty="0"/>
          </a:p>
        </p:txBody>
      </p:sp>
      <p:sp>
        <p:nvSpPr>
          <p:cNvPr id="12" name="Text 8"/>
          <p:cNvSpPr txBox="1"/>
          <p:nvPr/>
        </p:nvSpPr>
        <p:spPr>
          <a:xfrm>
            <a:off x="7398868" y="2350008"/>
            <a:ext cx="3703320" cy="868680"/>
          </a:xfrm>
          <a:prstGeom prst="rect">
            <a:avLst/>
          </a:prstGeom>
          <a:noFill/>
          <a:ln/>
        </p:spPr>
        <p:txBody>
          <a:bodyPr wrap="square" lIns="0" tIns="0" rIns="0" bIns="0" rtlCol="0" anchor="t"/>
          <a:lstStyle/>
          <a:p>
            <a:pPr indent="0" marL="0">
              <a:buNone/>
            </a:pPr>
            <a:r>
              <a:rPr lang="en-US" sz="1300" dirty="0">
                <a:solidFill>
                  <a:schemeClr val="tx1"/>
                </a:solidFill>
              </a:rPr>
              <a:t>What depth, breadth or read fraction should count as positive for a given regulated pathogen? That is a shared question, not a software one.</a:t>
            </a:r>
            <a:endParaRPr lang="en-US" sz="1300" dirty="0"/>
          </a:p>
        </p:txBody>
      </p:sp>
      <p:sp>
        <p:nvSpPr>
          <p:cNvPr id="13" name="Shape 9"/>
          <p:cNvSpPr/>
          <p:nvPr/>
        </p:nvSpPr>
        <p:spPr>
          <a:xfrm>
            <a:off x="860908" y="3657600"/>
            <a:ext cx="5029200" cy="1600200"/>
          </a:xfrm>
          <a:prstGeom prst="roundRect">
            <a:avLst>
              <a:gd name="adj" fmla="val 4571"/>
            </a:avLst>
          </a:prstGeom>
          <a:solidFill>
            <a:srgbClr val="EEF2EF"/>
          </a:solidFill>
          <a:ln w="12700">
            <a:solidFill>
              <a:srgbClr val="EEF2EF"/>
            </a:solidFill>
            <a:prstDash val="solid"/>
          </a:ln>
        </p:spPr>
      </p:sp>
      <p:sp>
        <p:nvSpPr>
          <p:cNvPr id="14" name="Shape 10"/>
          <p:cNvSpPr/>
          <p:nvPr/>
        </p:nvSpPr>
        <p:spPr>
          <a:xfrm>
            <a:off x="1135228" y="3931920"/>
            <a:ext cx="640080" cy="640080"/>
          </a:xfrm>
          <a:prstGeom prst="ellipse">
            <a:avLst/>
          </a:prstGeom>
          <a:solidFill>
            <a:srgbClr val="FFFFFF"/>
          </a:solidFill>
          <a:ln w="12700">
            <a:solidFill>
              <a:srgbClr val="FFFFFF"/>
            </a:solidFill>
            <a:prstDash val="solid"/>
          </a:ln>
        </p:spPr>
      </p:sp>
      <p:pic>
        <p:nvPicPr>
          <p:cNvPr id="15" name="Image 2" descr="preencoded.png">    </p:cNvPr>
          <p:cNvPicPr>
            <a:picLocks noChangeAspect="1"/>
          </p:cNvPicPr>
          <p:nvPr/>
        </p:nvPicPr>
        <p:blipFill>
          <a:blip r:embed="rId3"/>
          <a:stretch>
            <a:fillRect/>
          </a:stretch>
        </p:blipFill>
        <p:spPr>
          <a:xfrm>
            <a:off x="1281532" y="4078224"/>
            <a:ext cx="347472" cy="347472"/>
          </a:xfrm>
          <a:prstGeom prst="rect">
            <a:avLst/>
          </a:prstGeom>
        </p:spPr>
      </p:pic>
      <p:sp>
        <p:nvSpPr>
          <p:cNvPr id="16" name="Text 11"/>
          <p:cNvSpPr txBox="1"/>
          <p:nvPr/>
        </p:nvSpPr>
        <p:spPr>
          <a:xfrm>
            <a:off x="1958188" y="3886200"/>
            <a:ext cx="3703320" cy="411480"/>
          </a:xfrm>
          <a:prstGeom prst="rect">
            <a:avLst/>
          </a:prstGeom>
          <a:noFill/>
          <a:ln/>
        </p:spPr>
        <p:txBody>
          <a:bodyPr wrap="square" lIns="0" tIns="0" rIns="0" bIns="0" rtlCol="0" anchor="ctr"/>
          <a:lstStyle/>
          <a:p>
            <a:pPr indent="0" marL="0">
              <a:buNone/>
            </a:pPr>
            <a:r>
              <a:rPr lang="en-US" sz="1600" b="1" dirty="0">
                <a:solidFill>
                  <a:schemeClr val="tx2"/>
                </a:solidFill>
              </a:rPr>
              <a:t>Shared classifiers</a:t>
            </a:r>
            <a:endParaRPr lang="en-US" sz="1600" dirty="0"/>
          </a:p>
        </p:txBody>
      </p:sp>
      <p:sp>
        <p:nvSpPr>
          <p:cNvPr id="17" name="Text 12"/>
          <p:cNvSpPr txBox="1"/>
          <p:nvPr/>
        </p:nvSpPr>
        <p:spPr>
          <a:xfrm>
            <a:off x="1958188" y="4315968"/>
            <a:ext cx="3703320" cy="868680"/>
          </a:xfrm>
          <a:prstGeom prst="rect">
            <a:avLst/>
          </a:prstGeom>
          <a:noFill/>
          <a:ln/>
        </p:spPr>
        <p:txBody>
          <a:bodyPr wrap="square" lIns="0" tIns="0" rIns="0" bIns="0" rtlCol="0" anchor="t"/>
          <a:lstStyle/>
          <a:p>
            <a:pPr indent="0" marL="0">
              <a:buNone/>
            </a:pPr>
            <a:r>
              <a:rPr lang="en-US" sz="1300" dirty="0">
                <a:solidFill>
                  <a:schemeClr val="tx1"/>
                </a:solidFill>
              </a:rPr>
              <a:t>Plug in the databases and tools each side already trusts, and compare them on the same runs.</a:t>
            </a:r>
            <a:endParaRPr lang="en-US" sz="1300" dirty="0"/>
          </a:p>
        </p:txBody>
      </p:sp>
      <p:sp>
        <p:nvSpPr>
          <p:cNvPr id="18" name="Shape 13"/>
          <p:cNvSpPr/>
          <p:nvPr/>
        </p:nvSpPr>
        <p:spPr>
          <a:xfrm>
            <a:off x="6301588" y="3657600"/>
            <a:ext cx="5029200" cy="1600200"/>
          </a:xfrm>
          <a:prstGeom prst="roundRect">
            <a:avLst>
              <a:gd name="adj" fmla="val 4571"/>
            </a:avLst>
          </a:prstGeom>
          <a:solidFill>
            <a:srgbClr val="EEF2EF"/>
          </a:solidFill>
          <a:ln w="12700">
            <a:solidFill>
              <a:srgbClr val="EEF2EF"/>
            </a:solidFill>
            <a:prstDash val="solid"/>
          </a:ln>
        </p:spPr>
      </p:sp>
      <p:sp>
        <p:nvSpPr>
          <p:cNvPr id="19" name="Shape 14"/>
          <p:cNvSpPr/>
          <p:nvPr/>
        </p:nvSpPr>
        <p:spPr>
          <a:xfrm>
            <a:off x="6575908" y="3931920"/>
            <a:ext cx="640080" cy="640080"/>
          </a:xfrm>
          <a:prstGeom prst="ellipse">
            <a:avLst/>
          </a:prstGeom>
          <a:solidFill>
            <a:srgbClr val="FFFFFF"/>
          </a:solidFill>
          <a:ln w="12700">
            <a:solidFill>
              <a:srgbClr val="FFFFFF"/>
            </a:solidFill>
            <a:prstDash val="solid"/>
          </a:ln>
        </p:spPr>
      </p:sp>
      <p:pic>
        <p:nvPicPr>
          <p:cNvPr id="20" name="Image 3" descr="preencoded.png">    </p:cNvPr>
          <p:cNvPicPr>
            <a:picLocks noChangeAspect="1"/>
          </p:cNvPicPr>
          <p:nvPr/>
        </p:nvPicPr>
        <p:blipFill>
          <a:blip r:embed="rId4"/>
          <a:stretch>
            <a:fillRect/>
          </a:stretch>
        </p:blipFill>
        <p:spPr>
          <a:xfrm>
            <a:off x="6722212" y="4078224"/>
            <a:ext cx="347472" cy="347472"/>
          </a:xfrm>
          <a:prstGeom prst="rect">
            <a:avLst/>
          </a:prstGeom>
        </p:spPr>
      </p:pic>
      <p:sp>
        <p:nvSpPr>
          <p:cNvPr id="21" name="Text 15"/>
          <p:cNvSpPr txBox="1"/>
          <p:nvPr/>
        </p:nvSpPr>
        <p:spPr>
          <a:xfrm>
            <a:off x="7398868" y="3886200"/>
            <a:ext cx="3703320" cy="411480"/>
          </a:xfrm>
          <a:prstGeom prst="rect">
            <a:avLst/>
          </a:prstGeom>
          <a:noFill/>
          <a:ln/>
        </p:spPr>
        <p:txBody>
          <a:bodyPr wrap="square" lIns="0" tIns="0" rIns="0" bIns="0" rtlCol="0" anchor="ctr"/>
          <a:lstStyle/>
          <a:p>
            <a:pPr indent="0" marL="0">
              <a:buNone/>
            </a:pPr>
            <a:r>
              <a:rPr lang="en-US" sz="1600" b="1" dirty="0">
                <a:solidFill>
                  <a:schemeClr val="tx2"/>
                </a:solidFill>
              </a:rPr>
              <a:t>A pooled concordance dataset</a:t>
            </a:r>
            <a:endParaRPr lang="en-US" sz="1600" dirty="0"/>
          </a:p>
        </p:txBody>
      </p:sp>
      <p:sp>
        <p:nvSpPr>
          <p:cNvPr id="22" name="Text 16"/>
          <p:cNvSpPr txBox="1"/>
          <p:nvPr/>
        </p:nvSpPr>
        <p:spPr>
          <a:xfrm>
            <a:off x="7398868" y="4315968"/>
            <a:ext cx="3703320" cy="868680"/>
          </a:xfrm>
          <a:prstGeom prst="rect">
            <a:avLst/>
          </a:prstGeom>
          <a:noFill/>
          <a:ln/>
        </p:spPr>
        <p:txBody>
          <a:bodyPr wrap="square" lIns="0" tIns="0" rIns="0" bIns="0" rtlCol="0" anchor="t"/>
          <a:lstStyle/>
          <a:p>
            <a:pPr indent="0" marL="0">
              <a:buNone/>
            </a:pPr>
            <a:r>
              <a:rPr lang="en-US" sz="1300" dirty="0">
                <a:solidFill>
                  <a:schemeClr val="tx1"/>
                </a:solidFill>
              </a:rPr>
              <a:t>Every run adds a row. Across two countries that becomes evidence a regulator can use.</a:t>
            </a:r>
            <a:endParaRPr lang="en-US" sz="1300" dirty="0"/>
          </a:p>
        </p:txBody>
      </p:sp>
      <p:sp>
        <p:nvSpPr>
          <p:cNvPr id="23" name="Text 17"/>
          <p:cNvSpPr txBox="1"/>
          <p:nvPr/>
        </p:nvSpPr>
        <p:spPr>
          <a:xfrm>
            <a:off x="914400" y="5669280"/>
            <a:ext cx="10360152" cy="365760"/>
          </a:xfrm>
          <a:prstGeom prst="rect">
            <a:avLst/>
          </a:prstGeom>
          <a:noFill/>
          <a:ln/>
        </p:spPr>
        <p:txBody>
          <a:bodyPr wrap="square" lIns="0" tIns="0" rIns="0" bIns="0" rtlCol="0" anchor="ctr"/>
          <a:lstStyle/>
          <a:p>
            <a:pPr algn="ctr" indent="0" marL="0">
              <a:buNone/>
            </a:pPr>
            <a:r>
              <a:rPr lang="en-US" sz="1200" dirty="0">
                <a:solidFill>
                  <a:srgbClr val="6B7A82"/>
                </a:solidFill>
              </a:rPr>
              <a:t>The session discussion is on validation, interpretation and implementation. These four are where we think that conversation can become concrete.</a:t>
            </a:r>
            <a:endParaRPr lang="en-US" sz="1200" dirty="0"/>
          </a:p>
        </p:txBody>
      </p:sp>
      <p:sp>
        <p:nvSpPr>
          <p:cNvPr id="25" name="Slide Number Placeholder 0"/>
          <p:cNvSpPr>
            <a:spLocks noGrp="1"/>
          </p:cNvSpPr>
          <p:nvPr>
            <p:ph type="sldNum" sz="quarter" idx="4294967295"/>
          </p:nvPr>
        </p:nvSpPr>
        <p:spPr>
          <a:xfrm>
            <a:off x="11247120" y="59618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2" type="title" hasCustomPrompt="1"/>
          </p:nvPr>
        </p:nvSpPr>
        <p:spPr>
          <a:xfrm>
            <a:off x="822960" y="2194560"/>
            <a:ext cx="10543032" cy="1463040"/>
          </a:xfrm>
          <a:prstGeom prst="rect">
            <a:avLst/>
          </a:prstGeom>
          <a:noFill/>
          <a:ln/>
        </p:spPr>
        <p:txBody>
          <a:bodyPr wrap="square" lIns="0" tIns="0" rIns="0" bIns="0" rtlCol="0" anchor="ctr"/>
          <a:lstStyle/>
          <a:p>
            <a:pPr algn="ctr" indent="0" marL="0">
              <a:buNone/>
            </a:pPr>
            <a:r>
              <a:rPr lang="en-US" sz="3200" b="1" dirty="0">
                <a:solidFill>
                  <a:schemeClr val="tx1"/>
                </a:solidFill>
              </a:rPr>
              <a:t>Thank you</a:t>
            </a:r>
            <a:endParaRPr lang="en-US" sz="3200" dirty="0"/>
          </a:p>
        </p:txBody>
      </p:sp>
      <p:sp>
        <p:nvSpPr>
          <p:cNvPr id="3" name="Text 0"/>
          <p:cNvSpPr/>
          <p:nvPr>
            <p:ph idx="103" type="body" hasCustomPrompt="1"/>
          </p:nvPr>
        </p:nvSpPr>
        <p:spPr>
          <a:xfrm>
            <a:off x="1828800" y="3794760"/>
            <a:ext cx="8531352" cy="822960"/>
          </a:xfrm>
          <a:prstGeom prst="rect">
            <a:avLst/>
          </a:prstGeom>
          <a:noFill/>
          <a:ln/>
        </p:spPr>
        <p:txBody>
          <a:bodyPr wrap="square" lIns="0" tIns="0" rIns="0" bIns="0" rtlCol="0" anchor="t"/>
          <a:lstStyle/>
          <a:p>
            <a:pPr algn="ctr" indent="0" marL="0">
              <a:buNone/>
            </a:pPr>
            <a:r>
              <a:rPr lang="en-US" sz="2000" dirty="0">
                <a:solidFill>
                  <a:schemeClr val="tx2"/>
                </a:solidFill>
              </a:rPr>
              <a:t>Sam Horovatin, Tim Dumonceaux, Matthew G. Links</a:t>
            </a:r>
            <a:endParaRPr lang="en-US" sz="2000" dirty="0"/>
          </a:p>
          <a:p>
            <a:pPr algn="ctr" indent="0" marL="0">
              <a:buNone/>
            </a:pPr>
            <a:r>
              <a:rPr lang="en-US" sz="2000" dirty="0">
                <a:solidFill>
                  <a:schemeClr val="tx2"/>
                </a:solidFill>
              </a:rPr>
              <a:t>Agriculture and Agri-Food Canada   ·   University of Saskatchewan</a:t>
            </a:r>
            <a:endParaRPr lang="en-US" sz="2000" dirty="0"/>
          </a:p>
        </p:txBody>
      </p:sp>
      <p:sp>
        <p:nvSpPr>
          <p:cNvPr id="4" name="Text 2"/>
          <p:cNvSpPr txBox="1"/>
          <p:nvPr/>
        </p:nvSpPr>
        <p:spPr>
          <a:xfrm>
            <a:off x="1828800" y="4892040"/>
            <a:ext cx="8531352" cy="365760"/>
          </a:xfrm>
          <a:prstGeom prst="rect">
            <a:avLst/>
          </a:prstGeom>
          <a:noFill/>
          <a:ln/>
        </p:spPr>
        <p:txBody>
          <a:bodyPr wrap="square" lIns="0" tIns="0" rIns="0" bIns="0" rtlCol="0" anchor="ctr"/>
          <a:lstStyle/>
          <a:p>
            <a:pPr algn="ctr" indent="0" marL="0">
              <a:buNone/>
            </a:pPr>
            <a:r>
              <a:rPr lang="en-US" sz="1600" dirty="0">
                <a:solidFill>
                  <a:schemeClr val="tx2"/>
                </a:solidFill>
              </a:rPr>
              <a:t>tayab.soomro@agr.gc.ca</a:t>
            </a:r>
            <a:endParaRPr lang="en-US" sz="1600" dirty="0"/>
          </a:p>
        </p:txBody>
      </p:sp>
      <p:pic>
        <p:nvPicPr>
          <p:cNvPr id="5" name="Image 0" descr="/tmp/claude-0/-home-user-nanoCAS/2df442f6-a263-52d2-9b94-5a00d02710a2/scratchpad/deck/assets/qr_github.png">    </p:cNvPr>
          <p:cNvPicPr>
            <a:picLocks noChangeAspect="1"/>
          </p:cNvPicPr>
          <p:nvPr/>
        </p:nvPicPr>
        <p:blipFill>
          <a:blip r:embed="rId1"/>
          <a:stretch>
            <a:fillRect/>
          </a:stretch>
        </p:blipFill>
        <p:spPr>
          <a:xfrm>
            <a:off x="10241280" y="777240"/>
            <a:ext cx="1234440" cy="1234440"/>
          </a:xfrm>
          <a:prstGeom prst="rect">
            <a:avLst/>
          </a:prstGeom>
        </p:spPr>
      </p:pic>
      <p:sp>
        <p:nvSpPr>
          <p:cNvPr id="6" name="Text 3"/>
          <p:cNvSpPr txBox="1"/>
          <p:nvPr/>
        </p:nvSpPr>
        <p:spPr>
          <a:xfrm>
            <a:off x="9326880" y="2029968"/>
            <a:ext cx="2743200" cy="274320"/>
          </a:xfrm>
          <a:prstGeom prst="rect">
            <a:avLst/>
          </a:prstGeom>
          <a:noFill/>
          <a:ln/>
        </p:spPr>
        <p:txBody>
          <a:bodyPr wrap="square" lIns="0" tIns="0" rIns="0" bIns="0" rtlCol="0" anchor="ctr"/>
          <a:lstStyle/>
          <a:p>
            <a:pPr algn="ctr" indent="0" marL="0">
              <a:buNone/>
            </a:pPr>
            <a:r>
              <a:rPr lang="en-US" sz="1000" dirty="0">
                <a:solidFill>
                  <a:srgbClr val="6B7A82"/>
                </a:solidFill>
              </a:rPr>
              <a:t>github.com/tayabsoomro/nanoCAS</a:t>
            </a:r>
            <a:endParaRPr lang="en-US" sz="1000" dirty="0"/>
          </a:p>
        </p:txBody>
      </p:sp>
      <p:sp>
        <p:nvSpPr>
          <p:cNvPr id="25" name="Slide Number Placeholder 0"/>
          <p:cNvSpPr>
            <a:spLocks noGrp="1"/>
          </p:cNvSpPr>
          <p:nvPr>
            <p:ph type="sldNum" sz="quarter" idx="4294967295"/>
          </p:nvPr>
        </p:nvSpPr>
        <p:spPr>
          <a:xfrm>
            <a:off x="11247120" y="59618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2"/>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nanoCAS AAFC">
  <a:themeElements>
    <a:clrScheme name="nanoCAS AAFC">
      <a:dk1>
        <a:srgbClr val="1A1A1A"/>
      </a:dk1>
      <a:lt1>
        <a:srgbClr val="FFFFFF"/>
      </a:lt1>
      <a:dk2>
        <a:srgbClr val="1E3E2F"/>
      </a:dk2>
      <a:lt2>
        <a:srgbClr val="EEF2EF"/>
      </a:lt2>
      <a:accent1>
        <a:srgbClr val="1E3E2F"/>
      </a:accent1>
      <a:accent2>
        <a:srgbClr val="4F7A63"/>
      </a:accent2>
      <a:accent3>
        <a:srgbClr val="B5473A"/>
      </a:accent3>
      <a:accent4>
        <a:srgbClr val="6B7A82"/>
      </a:accent4>
      <a:accent5>
        <a:srgbClr val="C9D6CD"/>
      </a:accent5>
      <a:accent6>
        <a:srgbClr val="E9B44C"/>
      </a:accent6>
      <a:hlink>
        <a:srgbClr val="1E3E2F"/>
      </a:hlink>
      <a:folHlink>
        <a:srgbClr val="4F7A63"/>
      </a:folHlink>
    </a:clrScheme>
    <a:fontScheme name="nanoCAS AAFC">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nanoCAS: a real-time classification and alerting system for pathogen detection during nanopore sequencing</dc:title>
  <dc:subject>PptxGenJS Presentation</dc:subject>
  <dc:creator>Tayab Soomro</dc:creator>
  <cp:lastModifiedBy>Tayab Soomro</cp:lastModifiedBy>
  <cp:revision>1</cp:revision>
  <dcterms:created xsi:type="dcterms:W3CDTF">2026-10-14T18:29:49Z</dcterms:created>
  <dcterms:modified xsi:type="dcterms:W3CDTF">2026-10-14T18:29:49Z</dcterms:modified>
</cp:coreProperties>
</file>